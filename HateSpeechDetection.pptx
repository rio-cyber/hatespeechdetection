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1ZN8cJahRzMhvTqR+VxIHJndz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085ef8194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b085ef8194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b085ef8194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085ef8194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b085ef8194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b085ef8194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085ef8194_0_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b085ef8194_0_1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b085ef8194_0_1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085ef8194_0_1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b085ef8194_0_1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b085ef8194_0_1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085ef8194_0_2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b085ef8194_0_2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b085ef8194_0_2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b085ef8194_0_2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b085ef8194_0_2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b085ef8194_0_2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b085ef8194_0_2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3b085ef8194_0_2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b085ef8194_0_2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b085ef8194_0_3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3b085ef8194_0_3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3b085ef8194_0_3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b085ef8194_0_3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b085ef8194_0_3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b085ef8194_0_3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b085ef8194_0_3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g3b085ef8194_0_3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b085ef8194_0_3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c6e4af1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1098709" y="571500"/>
            <a:ext cx="694658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50"/>
              <a:buFont typeface="Georgia"/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Hate Speech Detection on Twitter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85800" y="1908391"/>
            <a:ext cx="77724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Classifying Hate Speech, Offensive Language, and Neutral Content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035048" y="3734501"/>
            <a:ext cx="5073900" cy="954600"/>
          </a:xfrm>
          <a:prstGeom prst="roundRect">
            <a:avLst>
              <a:gd fmla="val 9121" name="adj"/>
            </a:avLst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anchorCtr="0" anchor="ctr" bIns="69600" lIns="139275" spcFirstLastPara="1" rIns="139275" wrap="square" tIns="69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42"/>
              <a:buFont typeface="Calibri"/>
              <a:buNone/>
            </a:pPr>
            <a:r>
              <a:t/>
            </a:r>
            <a:endParaRPr b="0" i="0" sz="27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339524" y="3908623"/>
            <a:ext cx="44646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Prachi Pradhan • Rhea Shastri • Akash Chauhan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339524" y="4250973"/>
            <a:ext cx="44646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85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ECE-GY 6143 | </a:t>
            </a:r>
            <a:r>
              <a:rPr lang="en-US" sz="1500">
                <a:solidFill>
                  <a:srgbClr val="FFFFFF"/>
                </a:solidFill>
              </a:rPr>
              <a:t>Machine Learning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266700" y="342900"/>
            <a:ext cx="440112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5C63"/>
              </a:buClr>
              <a:buSzPts val="2700"/>
              <a:buFont typeface="Georgia"/>
              <a:buNone/>
            </a:pPr>
            <a:r>
              <a:rPr b="1" lang="en-US" sz="2700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Problem Overview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66700" y="1877467"/>
            <a:ext cx="4457700" cy="1807666"/>
          </a:xfrm>
          <a:prstGeom prst="roundRect">
            <a:avLst>
              <a:gd fmla="val 4215" name="adj"/>
            </a:avLst>
          </a:prstGeom>
          <a:solidFill>
            <a:srgbClr val="0D5C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514350" y="2125117"/>
            <a:ext cx="2030540" cy="211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Challenge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514350" y="2470100"/>
            <a:ext cx="4041648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Online platforms struggle to moderate harmful content due to massive volumes of user-generated text.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514350" y="3010942"/>
            <a:ext cx="4041648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key difficulty: distinguishing hate speech from offensive language, as they share similar vocabulary and patterns.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4914900" y="1396454"/>
            <a:ext cx="3962400" cy="948630"/>
          </a:xfrm>
          <a:prstGeom prst="roundRect">
            <a:avLst>
              <a:gd fmla="val 6024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" name="Google Shape;33;p3"/>
          <p:cNvCxnSpPr/>
          <p:nvPr/>
        </p:nvCxnSpPr>
        <p:spPr>
          <a:xfrm>
            <a:off x="4938713" y="1396454"/>
            <a:ext cx="0" cy="948630"/>
          </a:xfrm>
          <a:prstGeom prst="straightConnector1">
            <a:avLst/>
          </a:prstGeom>
          <a:noFill/>
          <a:ln cap="flat" cmpd="sng" w="4762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3"/>
          <p:cNvSpPr/>
          <p:nvPr/>
        </p:nvSpPr>
        <p:spPr>
          <a:xfrm>
            <a:off x="5172075" y="1586954"/>
            <a:ext cx="3565589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75"/>
              <a:buFont typeface="Georgia"/>
              <a:buNone/>
            </a:pPr>
            <a:r>
              <a:rPr b="1" lang="en-US" sz="975">
                <a:solidFill>
                  <a:srgbClr val="FF6B6B"/>
                </a:solidFill>
                <a:latin typeface="Georgia"/>
                <a:ea typeface="Georgia"/>
                <a:cs typeface="Georgia"/>
                <a:sym typeface="Georgia"/>
              </a:rPr>
              <a:t>HATE SPEECH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5172075" y="1811685"/>
            <a:ext cx="356558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Targeted attacks on individuals or groups based on protected characteristics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4914900" y="2478435"/>
            <a:ext cx="3962400" cy="777180"/>
          </a:xfrm>
          <a:prstGeom prst="roundRect">
            <a:avLst>
              <a:gd fmla="val 7354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" name="Google Shape;37;p3"/>
          <p:cNvCxnSpPr/>
          <p:nvPr/>
        </p:nvCxnSpPr>
        <p:spPr>
          <a:xfrm>
            <a:off x="4938713" y="2478435"/>
            <a:ext cx="0" cy="777180"/>
          </a:xfrm>
          <a:prstGeom prst="straightConnector1">
            <a:avLst/>
          </a:prstGeom>
          <a:noFill/>
          <a:ln cap="flat" cmpd="sng" w="47625">
            <a:solidFill>
              <a:srgbClr val="FFE66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3"/>
          <p:cNvSpPr/>
          <p:nvPr/>
        </p:nvSpPr>
        <p:spPr>
          <a:xfrm>
            <a:off x="5172075" y="2668935"/>
            <a:ext cx="3565589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4A800"/>
              </a:buClr>
              <a:buSzPts val="975"/>
              <a:buFont typeface="Georgia"/>
              <a:buNone/>
            </a:pPr>
            <a:r>
              <a:rPr b="1" lang="en-US" sz="975">
                <a:solidFill>
                  <a:srgbClr val="D4A800"/>
                </a:solidFill>
                <a:latin typeface="Georgia"/>
                <a:ea typeface="Georgia"/>
                <a:cs typeface="Georgia"/>
                <a:sym typeface="Georgia"/>
              </a:rPr>
              <a:t>OFFENSIVE LANGUAGE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5172075" y="2893665"/>
            <a:ext cx="356558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Contains profanity or crude language but lacks hateful targeting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4914900" y="3388965"/>
            <a:ext cx="3962400" cy="777180"/>
          </a:xfrm>
          <a:prstGeom prst="roundRect">
            <a:avLst>
              <a:gd fmla="val 7354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" name="Google Shape;41;p3"/>
          <p:cNvCxnSpPr/>
          <p:nvPr/>
        </p:nvCxnSpPr>
        <p:spPr>
          <a:xfrm>
            <a:off x="4938713" y="3388965"/>
            <a:ext cx="0" cy="777180"/>
          </a:xfrm>
          <a:prstGeom prst="straightConnector1">
            <a:avLst/>
          </a:prstGeom>
          <a:noFill/>
          <a:ln cap="flat" cmpd="sng" w="47625">
            <a:solidFill>
              <a:srgbClr val="1A78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3"/>
          <p:cNvSpPr/>
          <p:nvPr/>
        </p:nvSpPr>
        <p:spPr>
          <a:xfrm>
            <a:off x="5172075" y="3579465"/>
            <a:ext cx="3565589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7880"/>
              </a:buClr>
              <a:buSzPts val="975"/>
              <a:buFont typeface="Georgia"/>
              <a:buNone/>
            </a:pPr>
            <a:r>
              <a:rPr b="1" lang="en-US" sz="975">
                <a:solidFill>
                  <a:srgbClr val="1A7880"/>
                </a:solidFill>
                <a:latin typeface="Georgia"/>
                <a:ea typeface="Georgia"/>
                <a:cs typeface="Georgia"/>
                <a:sym typeface="Georgia"/>
              </a:rPr>
              <a:t>NEITHER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5172075" y="3804196"/>
            <a:ext cx="356558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Neutral content without hate speech or offensive elements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266700" y="342900"/>
            <a:ext cx="440112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5C63"/>
              </a:buClr>
              <a:buSzPts val="2700"/>
              <a:buFont typeface="Georgia"/>
              <a:buNone/>
            </a:pPr>
            <a:r>
              <a:rPr b="1" lang="en-US" sz="2700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Dataset Description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266700" y="1066800"/>
            <a:ext cx="4219575" cy="1215330"/>
          </a:xfrm>
          <a:prstGeom prst="roundRect">
            <a:avLst>
              <a:gd fmla="val 6270" name="adj"/>
            </a:avLst>
          </a:prstGeom>
          <a:solidFill>
            <a:srgbClr val="0D5C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477107" y="1314450"/>
            <a:ext cx="37987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~24,000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477107" y="1847850"/>
            <a:ext cx="379876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Total Tweets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4657725" y="1066800"/>
            <a:ext cx="4219575" cy="1215330"/>
          </a:xfrm>
          <a:prstGeom prst="roundRect">
            <a:avLst>
              <a:gd fmla="val 6270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4868132" y="1314450"/>
            <a:ext cx="37987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5C63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0D5C6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868132" y="1847850"/>
            <a:ext cx="379876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Classification Classes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266700" y="2586250"/>
            <a:ext cx="8610600" cy="979200"/>
          </a:xfrm>
          <a:prstGeom prst="roundRect">
            <a:avLst>
              <a:gd fmla="val 7782" name="adj"/>
            </a:avLst>
          </a:prstGeom>
          <a:solidFill>
            <a:srgbClr val="FFF7E6"/>
          </a:solidFill>
          <a:ln cap="flat" cmpd="sng" w="19050">
            <a:solidFill>
              <a:srgbClr val="FFE6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33400" y="2866196"/>
            <a:ext cx="419100" cy="419100"/>
          </a:xfrm>
          <a:prstGeom prst="roundRect">
            <a:avLst>
              <a:gd fmla="val 218182" name="adj"/>
            </a:avLst>
          </a:prstGeom>
          <a:solidFill>
            <a:srgbClr val="FFE6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612130" y="2929002"/>
            <a:ext cx="2667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⚠️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085850" y="2795800"/>
            <a:ext cx="76752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050"/>
              <a:buFont typeface="Georgia"/>
              <a:buNone/>
            </a:pPr>
            <a:r>
              <a:rPr b="1" lang="en-US" sz="1050">
                <a:solidFill>
                  <a:srgbClr val="1D1D1D"/>
                </a:solidFill>
                <a:latin typeface="Georgia"/>
                <a:ea typeface="Georgia"/>
                <a:cs typeface="Georgia"/>
                <a:sym typeface="Georgia"/>
              </a:rPr>
              <a:t>Class Imbalance Challenge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1085850" y="3012941"/>
            <a:ext cx="767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Majority of tweets labeled as offensive language, creating significant class imbalance that directly impacts model performance—especially recall for hate speech class.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266700" y="3838918"/>
            <a:ext cx="8610600" cy="1069800"/>
          </a:xfrm>
          <a:prstGeom prst="roundRect">
            <a:avLst>
              <a:gd fmla="val 10205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14350" y="4033514"/>
            <a:ext cx="8277600" cy="2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5C63"/>
              </a:buClr>
              <a:buSzPts val="975"/>
              <a:buFont typeface="Georgia"/>
              <a:buNone/>
            </a:pPr>
            <a:r>
              <a:rPr b="1" lang="en-US" sz="975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Data Characteristics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14350" y="4279625"/>
            <a:ext cx="2108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Tweet length variations analyzed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14350" y="4508825"/>
            <a:ext cx="2108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Pre-labeled with human annotations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868125" y="4276850"/>
            <a:ext cx="32145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5A5A5A"/>
                </a:solidFill>
              </a:rPr>
              <a:t>Noisy texts with stopwords and platform artifacts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868125" y="4506050"/>
            <a:ext cx="28983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5A5A5A"/>
                </a:solidFill>
              </a:rPr>
              <a:t>Vote Based Labels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085ef8194_0_2"/>
          <p:cNvSpPr/>
          <p:nvPr/>
        </p:nvSpPr>
        <p:spPr>
          <a:xfrm>
            <a:off x="266700" y="342900"/>
            <a:ext cx="440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5C63"/>
              </a:buClr>
              <a:buSzPts val="2700"/>
              <a:buFont typeface="Georgia"/>
              <a:buNone/>
            </a:pPr>
            <a:r>
              <a:rPr b="1" lang="en-US" sz="2700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Dataset Description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79158451.png" id="73" name="Google Shape;73;g3b085ef8194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" y="1156416"/>
            <a:ext cx="2781300" cy="109909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g3b085ef8194_0_2"/>
          <p:cNvSpPr/>
          <p:nvPr/>
        </p:nvSpPr>
        <p:spPr>
          <a:xfrm>
            <a:off x="433197" y="1346916"/>
            <a:ext cx="24483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1,430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3b085ef8194_0_2"/>
          <p:cNvSpPr/>
          <p:nvPr/>
        </p:nvSpPr>
        <p:spPr>
          <a:xfrm>
            <a:off x="433197" y="1918416"/>
            <a:ext cx="24483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Hate Speech (5.8%)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ceff9e31.png" id="76" name="Google Shape;76;g3b085ef8194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1350" y="1156416"/>
            <a:ext cx="2781300" cy="109909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g3b085ef8194_0_2"/>
          <p:cNvSpPr/>
          <p:nvPr/>
        </p:nvSpPr>
        <p:spPr>
          <a:xfrm>
            <a:off x="3347847" y="1346916"/>
            <a:ext cx="24483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19,190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b085ef8194_0_2"/>
          <p:cNvSpPr/>
          <p:nvPr/>
        </p:nvSpPr>
        <p:spPr>
          <a:xfrm>
            <a:off x="3347847" y="1918416"/>
            <a:ext cx="24483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Offensive (77.4%)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17beb211.png" id="79" name="Google Shape;79;g3b085ef8194_0_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1156416"/>
            <a:ext cx="2781300" cy="109909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g3b085ef8194_0_2"/>
          <p:cNvSpPr/>
          <p:nvPr/>
        </p:nvSpPr>
        <p:spPr>
          <a:xfrm>
            <a:off x="6262497" y="1346916"/>
            <a:ext cx="24483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4,163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3b085ef8194_0_2"/>
          <p:cNvSpPr/>
          <p:nvPr/>
        </p:nvSpPr>
        <p:spPr>
          <a:xfrm>
            <a:off x="6262497" y="1918416"/>
            <a:ext cx="24483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Neither (16.8%)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ength_montage.png" id="82" name="Google Shape;82;g3b085ef8194_0_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6007" y="2764012"/>
            <a:ext cx="8531998" cy="208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/>
          <p:cNvSpPr/>
          <p:nvPr/>
        </p:nvSpPr>
        <p:spPr>
          <a:xfrm>
            <a:off x="266700" y="342900"/>
            <a:ext cx="440112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5C63"/>
              </a:buClr>
              <a:buSzPts val="2700"/>
              <a:buFont typeface="Georgia"/>
              <a:buNone/>
            </a:pPr>
            <a:r>
              <a:rPr b="1" lang="en-US" sz="2700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Methodology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a9f8614c.png" id="89" name="Google Shape;8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" y="1066800"/>
            <a:ext cx="8610600" cy="183871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8"/>
          <p:cNvSpPr/>
          <p:nvPr/>
        </p:nvSpPr>
        <p:spPr>
          <a:xfrm>
            <a:off x="476250" y="1276350"/>
            <a:ext cx="4187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Georgia"/>
              <a:buNone/>
            </a:pPr>
            <a:r>
              <a:rPr b="1" lang="en-US" sz="13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Text Preprocessing Steps</a:t>
            </a:r>
            <a:endParaRPr b="1" sz="135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476250" y="1672998"/>
            <a:ext cx="1045800" cy="350400"/>
          </a:xfrm>
          <a:prstGeom prst="roundRect">
            <a:avLst>
              <a:gd fmla="val 16306" name="adj"/>
            </a:avLst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628650" y="1768248"/>
            <a:ext cx="7557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Text Cleaning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1617315" y="1672998"/>
            <a:ext cx="1003500" cy="350400"/>
          </a:xfrm>
          <a:prstGeom prst="roundRect">
            <a:avLst>
              <a:gd fmla="val 16306" name="adj"/>
            </a:avLst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1769715" y="1768248"/>
            <a:ext cx="7128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Lowercasing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2716113" y="1672998"/>
            <a:ext cx="1340100" cy="350400"/>
          </a:xfrm>
          <a:prstGeom prst="roundRect">
            <a:avLst>
              <a:gd fmla="val 16306" name="adj"/>
            </a:avLst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2868513" y="1768248"/>
            <a:ext cx="10560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Stopword Removal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4151412" y="1672998"/>
            <a:ext cx="857400" cy="350400"/>
          </a:xfrm>
          <a:prstGeom prst="roundRect">
            <a:avLst>
              <a:gd fmla="val 16306" name="adj"/>
            </a:avLst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4303812" y="1768248"/>
            <a:ext cx="5637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Stemming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5104061" y="1672998"/>
            <a:ext cx="1308600" cy="350400"/>
          </a:xfrm>
          <a:prstGeom prst="roundRect">
            <a:avLst>
              <a:gd fmla="val 16306" name="adj"/>
            </a:avLst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5256461" y="1768248"/>
            <a:ext cx="1023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Feature Extraction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266700" y="3212072"/>
            <a:ext cx="8782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5C63"/>
              </a:buClr>
              <a:buSzPts val="1125"/>
              <a:buFont typeface="Georgia"/>
              <a:buNone/>
            </a:pPr>
            <a:r>
              <a:rPr b="1" lang="en-US" sz="1125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Feature Sets Evaluated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266700" y="3497822"/>
            <a:ext cx="2052600" cy="727500"/>
          </a:xfrm>
          <a:prstGeom prst="roundRect">
            <a:avLst>
              <a:gd fmla="val 7854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8"/>
          <p:cNvCxnSpPr/>
          <p:nvPr/>
        </p:nvCxnSpPr>
        <p:spPr>
          <a:xfrm>
            <a:off x="266700" y="3516872"/>
            <a:ext cx="2052600" cy="0"/>
          </a:xfrm>
          <a:prstGeom prst="straightConnector1">
            <a:avLst/>
          </a:prstGeom>
          <a:noFill/>
          <a:ln cap="flat" cmpd="sng" w="38100">
            <a:solidFill>
              <a:srgbClr val="0D5C6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8"/>
          <p:cNvSpPr/>
          <p:nvPr/>
        </p:nvSpPr>
        <p:spPr>
          <a:xfrm>
            <a:off x="438150" y="3707372"/>
            <a:ext cx="174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5C63"/>
              </a:buClr>
              <a:buSzPts val="900"/>
              <a:buFont typeface="Georgia"/>
              <a:buNone/>
            </a:pPr>
            <a:r>
              <a:rPr b="1" lang="en-US" sz="900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TF-IDF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438150" y="3907397"/>
            <a:ext cx="17439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Unigrams + Bigrams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2452688" y="3497822"/>
            <a:ext cx="2052600" cy="727500"/>
          </a:xfrm>
          <a:prstGeom prst="roundRect">
            <a:avLst>
              <a:gd fmla="val 7854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8"/>
          <p:cNvCxnSpPr/>
          <p:nvPr/>
        </p:nvCxnSpPr>
        <p:spPr>
          <a:xfrm>
            <a:off x="2452688" y="3516872"/>
            <a:ext cx="2052600" cy="0"/>
          </a:xfrm>
          <a:prstGeom prst="straightConnector1">
            <a:avLst/>
          </a:prstGeom>
          <a:noFill/>
          <a:ln cap="flat" cmpd="sng" w="381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8"/>
          <p:cNvSpPr/>
          <p:nvPr/>
        </p:nvSpPr>
        <p:spPr>
          <a:xfrm>
            <a:off x="2624138" y="3707372"/>
            <a:ext cx="174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00"/>
              <a:buFont typeface="Georgia"/>
              <a:buNone/>
            </a:pPr>
            <a:r>
              <a:rPr b="1" lang="en-US" sz="900">
                <a:solidFill>
                  <a:srgbClr val="FF6B6B"/>
                </a:solidFill>
                <a:latin typeface="Georgia"/>
                <a:ea typeface="Georgia"/>
                <a:cs typeface="Georgia"/>
                <a:sym typeface="Georgia"/>
              </a:rPr>
              <a:t>Sentiment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2624138" y="3907397"/>
            <a:ext cx="17439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VADER sentiment analysis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4638675" y="3497822"/>
            <a:ext cx="2052600" cy="727500"/>
          </a:xfrm>
          <a:prstGeom prst="roundRect">
            <a:avLst>
              <a:gd fmla="val 7854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8"/>
          <p:cNvCxnSpPr/>
          <p:nvPr/>
        </p:nvCxnSpPr>
        <p:spPr>
          <a:xfrm>
            <a:off x="4638675" y="3516872"/>
            <a:ext cx="2052600" cy="0"/>
          </a:xfrm>
          <a:prstGeom prst="straightConnector1">
            <a:avLst/>
          </a:prstGeom>
          <a:noFill/>
          <a:ln cap="flat" cmpd="sng" w="38100">
            <a:solidFill>
              <a:srgbClr val="FFE66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8"/>
          <p:cNvSpPr/>
          <p:nvPr/>
        </p:nvSpPr>
        <p:spPr>
          <a:xfrm>
            <a:off x="4810125" y="3707372"/>
            <a:ext cx="174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00"/>
              </a:buClr>
              <a:buSzPts val="900"/>
              <a:buFont typeface="Georgia"/>
              <a:buNone/>
            </a:pPr>
            <a:r>
              <a:rPr b="1" lang="en-US" sz="900">
                <a:solidFill>
                  <a:srgbClr val="D4A800"/>
                </a:solidFill>
                <a:latin typeface="Georgia"/>
                <a:ea typeface="Georgia"/>
                <a:cs typeface="Georgia"/>
                <a:sym typeface="Georgia"/>
              </a:rPr>
              <a:t>Doc2Vec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4810125" y="3907397"/>
            <a:ext cx="17439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Document embeddings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6824663" y="3497822"/>
            <a:ext cx="2052600" cy="727500"/>
          </a:xfrm>
          <a:prstGeom prst="roundRect">
            <a:avLst>
              <a:gd fmla="val 7854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8"/>
          <p:cNvCxnSpPr/>
          <p:nvPr/>
        </p:nvCxnSpPr>
        <p:spPr>
          <a:xfrm>
            <a:off x="6824663" y="3516872"/>
            <a:ext cx="2052600" cy="0"/>
          </a:xfrm>
          <a:prstGeom prst="straightConnector1">
            <a:avLst/>
          </a:prstGeom>
          <a:noFill/>
          <a:ln cap="flat" cmpd="sng" w="38100">
            <a:solidFill>
              <a:srgbClr val="1A78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8"/>
          <p:cNvSpPr/>
          <p:nvPr/>
        </p:nvSpPr>
        <p:spPr>
          <a:xfrm>
            <a:off x="6996113" y="3707372"/>
            <a:ext cx="1743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880"/>
              </a:buClr>
              <a:buSzPts val="900"/>
              <a:buFont typeface="Georgia"/>
              <a:buNone/>
            </a:pPr>
            <a:r>
              <a:rPr b="1" lang="en-US" sz="900">
                <a:solidFill>
                  <a:srgbClr val="1A7880"/>
                </a:solidFill>
                <a:latin typeface="Georgia"/>
                <a:ea typeface="Georgia"/>
                <a:cs typeface="Georgia"/>
                <a:sym typeface="Georgia"/>
              </a:rPr>
              <a:t>Readability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6996113" y="3907397"/>
            <a:ext cx="17439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Linguistic features, FK score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266700" y="4377843"/>
            <a:ext cx="8610600" cy="4764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905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457200" y="4530243"/>
            <a:ext cx="8394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Approach:</a:t>
            </a:r>
            <a:r>
              <a:rPr lang="en-US" sz="9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 Each feature combination tested across multiple ML models to identify optimal performance.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476250" y="2245902"/>
            <a:ext cx="7912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200">
                <a:solidFill>
                  <a:schemeClr val="lt1"/>
                </a:solidFill>
              </a:rPr>
              <a:t>Result: cleaner token stream → better feature vectors.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200">
                <a:solidFill>
                  <a:schemeClr val="lt1"/>
                </a:solidFill>
              </a:rPr>
              <a:t>Example: "Wow!! @user This is AMAZING!!!" → "wow amaz"</a:t>
            </a:r>
            <a:endParaRPr b="1" sz="12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/>
          <p:nvPr/>
        </p:nvSpPr>
        <p:spPr>
          <a:xfrm>
            <a:off x="266700" y="342900"/>
            <a:ext cx="440112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5C63"/>
              </a:buClr>
              <a:buSzPts val="2700"/>
              <a:buFont typeface="Georgia"/>
              <a:buNone/>
            </a:pPr>
            <a:r>
              <a:rPr b="1" lang="en-US" sz="2700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Models Evaluated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aca634a6.png" id="127" name="Google Shape;12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" y="989925"/>
            <a:ext cx="4238625" cy="136131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3"/>
          <p:cNvSpPr/>
          <p:nvPr/>
        </p:nvSpPr>
        <p:spPr>
          <a:xfrm>
            <a:off x="1058993" y="1373900"/>
            <a:ext cx="26541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Georgia"/>
              <a:buNone/>
            </a:pPr>
            <a:r>
              <a:rPr b="1" lang="en-US" sz="1575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Logistic  Regression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1329755" y="1785251"/>
            <a:ext cx="21126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Linear classifier with probabilistic outputs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4638675" y="989925"/>
            <a:ext cx="4238700" cy="1361400"/>
          </a:xfrm>
          <a:prstGeom prst="roundRect">
            <a:avLst>
              <a:gd fmla="val 8153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5564071" y="1373900"/>
            <a:ext cx="23856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Georgia"/>
              <a:buNone/>
            </a:pPr>
            <a:r>
              <a:rPr b="1" lang="en-US" sz="1575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Random Forest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6058018" y="1785251"/>
            <a:ext cx="13998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Ensemble of decision trees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266700" y="2573208"/>
            <a:ext cx="4238700" cy="1361100"/>
          </a:xfrm>
          <a:prstGeom prst="roundRect">
            <a:avLst>
              <a:gd fmla="val 8153" name="adj"/>
            </a:avLst>
          </a:prstGeom>
          <a:solidFill>
            <a:srgbClr val="FFE6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1457559" y="2922050"/>
            <a:ext cx="18570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575"/>
              <a:buFont typeface="Georgia"/>
              <a:buNone/>
            </a:pPr>
            <a:r>
              <a:rPr b="1" lang="en-US" sz="1575">
                <a:solidFill>
                  <a:srgbClr val="1D1D1D"/>
                </a:solidFill>
                <a:latin typeface="Georgia"/>
                <a:ea typeface="Georgia"/>
                <a:cs typeface="Georgia"/>
                <a:sym typeface="Georgia"/>
              </a:rPr>
              <a:t>Naive Bayes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1153358" y="3368534"/>
            <a:ext cx="2465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Probabilistic classifier based on Bayes' theorem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4638675" y="2573208"/>
            <a:ext cx="4238700" cy="1361100"/>
          </a:xfrm>
          <a:prstGeom prst="roundRect">
            <a:avLst>
              <a:gd fmla="val 8153" name="adj"/>
            </a:avLst>
          </a:prstGeom>
          <a:solidFill>
            <a:srgbClr val="1A78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8375600" y="2656450"/>
            <a:ext cx="444600" cy="194700"/>
          </a:xfrm>
          <a:prstGeom prst="roundRect">
            <a:avLst>
              <a:gd fmla="val 20000" name="adj"/>
            </a:avLst>
          </a:prstGeom>
          <a:solidFill>
            <a:srgbClr val="FFE6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8468310" y="2698067"/>
            <a:ext cx="2592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BEST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3"/>
          <p:cNvSpPr/>
          <p:nvPr/>
        </p:nvSpPr>
        <p:spPr>
          <a:xfrm>
            <a:off x="5368275" y="2922050"/>
            <a:ext cx="27795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Georgia"/>
              <a:buNone/>
            </a:pPr>
            <a:r>
              <a:rPr b="1" lang="en-US" sz="1575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Support Vector Machine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3"/>
          <p:cNvSpPr/>
          <p:nvPr/>
        </p:nvSpPr>
        <p:spPr>
          <a:xfrm>
            <a:off x="5760175" y="3368534"/>
            <a:ext cx="19956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Maximum-margin hyperplane classifier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3"/>
          <p:cNvSpPr/>
          <p:nvPr/>
        </p:nvSpPr>
        <p:spPr>
          <a:xfrm>
            <a:off x="266700" y="4149158"/>
            <a:ext cx="8610600" cy="758100"/>
          </a:xfrm>
          <a:prstGeom prst="roundRect">
            <a:avLst>
              <a:gd fmla="val 10051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3"/>
          <p:cNvSpPr/>
          <p:nvPr/>
        </p:nvSpPr>
        <p:spPr>
          <a:xfrm>
            <a:off x="495300" y="4320608"/>
            <a:ext cx="83166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5C63"/>
              </a:buClr>
              <a:buSzPts val="1050"/>
              <a:buFont typeface="Georgia"/>
              <a:buNone/>
            </a:pPr>
            <a:r>
              <a:rPr b="1" lang="en-US" sz="1050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Evaluation Metrics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3"/>
          <p:cNvSpPr/>
          <p:nvPr/>
        </p:nvSpPr>
        <p:spPr>
          <a:xfrm>
            <a:off x="495300" y="4575850"/>
            <a:ext cx="11724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2070321" y="4575850"/>
            <a:ext cx="11724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3645011" y="4575850"/>
            <a:ext cx="7671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3"/>
          <p:cNvSpPr/>
          <p:nvPr/>
        </p:nvSpPr>
        <p:spPr>
          <a:xfrm>
            <a:off x="4822538" y="4575850"/>
            <a:ext cx="11142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F1-Score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6340395" y="4575850"/>
            <a:ext cx="2415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Confusion Matrices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085ef8194_0_35"/>
          <p:cNvSpPr/>
          <p:nvPr/>
        </p:nvSpPr>
        <p:spPr>
          <a:xfrm>
            <a:off x="266700" y="304800"/>
            <a:ext cx="4401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5C63"/>
              </a:buClr>
              <a:buSzPts val="2550"/>
              <a:buFont typeface="Georgia"/>
              <a:buNone/>
            </a:pPr>
            <a:r>
              <a:rPr b="1" i="0" lang="en-US" sz="2550" u="none" cap="none" strike="noStrike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TF-IDF (F1)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b085ef8194_0_35"/>
          <p:cNvSpPr/>
          <p:nvPr/>
        </p:nvSpPr>
        <p:spPr>
          <a:xfrm>
            <a:off x="266700" y="971550"/>
            <a:ext cx="8610600" cy="816900"/>
          </a:xfrm>
          <a:prstGeom prst="roundRect">
            <a:avLst>
              <a:gd fmla="val 9328" name="adj"/>
            </a:avLst>
          </a:prstGeom>
          <a:solidFill>
            <a:srgbClr val="0D5C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b085ef8194_0_35"/>
          <p:cNvSpPr/>
          <p:nvPr/>
        </p:nvSpPr>
        <p:spPr>
          <a:xfrm>
            <a:off x="495300" y="1162050"/>
            <a:ext cx="416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Term Frequency-Inverse Document Frequency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b085ef8194_0_35"/>
          <p:cNvSpPr/>
          <p:nvPr/>
        </p:nvSpPr>
        <p:spPr>
          <a:xfrm>
            <a:off x="495300" y="1426518"/>
            <a:ext cx="8316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Converts text into numerical vectors by weighting terms based on their importance in documents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b085ef8194_0_35"/>
          <p:cNvSpPr/>
          <p:nvPr/>
        </p:nvSpPr>
        <p:spPr>
          <a:xfrm>
            <a:off x="266700" y="1902768"/>
            <a:ext cx="8610600" cy="1121700"/>
          </a:xfrm>
          <a:prstGeom prst="roundRect">
            <a:avLst>
              <a:gd fmla="val 5095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b085ef8194_0_35"/>
          <p:cNvSpPr/>
          <p:nvPr/>
        </p:nvSpPr>
        <p:spPr>
          <a:xfrm>
            <a:off x="476250" y="2074218"/>
            <a:ext cx="83553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5C63"/>
              </a:buClr>
              <a:buSzPts val="975"/>
              <a:buFont typeface="Georgia"/>
              <a:buNone/>
            </a:pPr>
            <a:r>
              <a:rPr b="1" i="0" lang="en-US" sz="975" u="none" cap="none" strike="noStrike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Mathematical Formula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b085ef8194_0_35"/>
          <p:cNvSpPr/>
          <p:nvPr/>
        </p:nvSpPr>
        <p:spPr>
          <a:xfrm>
            <a:off x="476250" y="2298948"/>
            <a:ext cx="83553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TF(t,d)</a:t>
            </a: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 = (Number of times term t appears in document d) / (Total terms in document d)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b085ef8194_0_35"/>
          <p:cNvSpPr/>
          <p:nvPr/>
        </p:nvSpPr>
        <p:spPr>
          <a:xfrm>
            <a:off x="476250" y="2502694"/>
            <a:ext cx="83553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IDF(t)</a:t>
            </a: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 = log(Total documents / Documents containing term t)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b085ef8194_0_35"/>
          <p:cNvSpPr/>
          <p:nvPr/>
        </p:nvSpPr>
        <p:spPr>
          <a:xfrm>
            <a:off x="476250" y="2706439"/>
            <a:ext cx="83553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TF-IDF(t,d)</a:t>
            </a: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 = TF(t,d) × IDF(t)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b085ef8194_0_35"/>
          <p:cNvSpPr/>
          <p:nvPr/>
        </p:nvSpPr>
        <p:spPr>
          <a:xfrm>
            <a:off x="266700" y="3138785"/>
            <a:ext cx="4248300" cy="798000"/>
          </a:xfrm>
          <a:prstGeom prst="roundRect">
            <a:avLst>
              <a:gd fmla="val 7162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g3b085ef8194_0_35"/>
          <p:cNvCxnSpPr/>
          <p:nvPr/>
        </p:nvCxnSpPr>
        <p:spPr>
          <a:xfrm>
            <a:off x="285750" y="3138785"/>
            <a:ext cx="0" cy="798000"/>
          </a:xfrm>
          <a:prstGeom prst="straightConnector1">
            <a:avLst/>
          </a:prstGeom>
          <a:noFill/>
          <a:ln cap="flat" cmpd="sng" w="38100">
            <a:solidFill>
              <a:srgbClr val="FFE66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g3b085ef8194_0_35"/>
          <p:cNvSpPr/>
          <p:nvPr/>
        </p:nvSpPr>
        <p:spPr>
          <a:xfrm>
            <a:off x="457200" y="3291185"/>
            <a:ext cx="39834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rgbClr val="1D1D1D"/>
                </a:solidFill>
                <a:latin typeface="Georgia"/>
                <a:ea typeface="Georgia"/>
                <a:cs typeface="Georgia"/>
                <a:sym typeface="Georgia"/>
              </a:rPr>
              <a:t>Intuition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b085ef8194_0_35"/>
          <p:cNvSpPr/>
          <p:nvPr/>
        </p:nvSpPr>
        <p:spPr>
          <a:xfrm>
            <a:off x="457200" y="3491210"/>
            <a:ext cx="39834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High TF-IDF = term appears frequently in this document but rarely across all documents (discriminative)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b085ef8194_0_35"/>
          <p:cNvSpPr/>
          <p:nvPr/>
        </p:nvSpPr>
        <p:spPr>
          <a:xfrm>
            <a:off x="4629150" y="3212009"/>
            <a:ext cx="4248300" cy="651300"/>
          </a:xfrm>
          <a:prstGeom prst="roundRect">
            <a:avLst>
              <a:gd fmla="val 8773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g3b085ef8194_0_35"/>
          <p:cNvCxnSpPr/>
          <p:nvPr/>
        </p:nvCxnSpPr>
        <p:spPr>
          <a:xfrm>
            <a:off x="4648200" y="3212009"/>
            <a:ext cx="0" cy="651300"/>
          </a:xfrm>
          <a:prstGeom prst="straightConnector1">
            <a:avLst/>
          </a:prstGeom>
          <a:noFill/>
          <a:ln cap="flat" cmpd="sng" w="38100">
            <a:solidFill>
              <a:srgbClr val="FFE66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g3b085ef8194_0_35"/>
          <p:cNvSpPr/>
          <p:nvPr/>
        </p:nvSpPr>
        <p:spPr>
          <a:xfrm>
            <a:off x="4819650" y="3364409"/>
            <a:ext cx="39834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rgbClr val="1D1D1D"/>
                </a:solidFill>
                <a:latin typeface="Georgia"/>
                <a:ea typeface="Georgia"/>
                <a:cs typeface="Georgia"/>
                <a:sym typeface="Georgia"/>
              </a:rPr>
              <a:t>Implementation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b085ef8194_0_35"/>
          <p:cNvSpPr/>
          <p:nvPr/>
        </p:nvSpPr>
        <p:spPr>
          <a:xfrm>
            <a:off x="4819650" y="3564434"/>
            <a:ext cx="39834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Used n-gram range (1,2) for unigrams and bigrams, max_df=0.75, min_df=5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b085ef8194_0_35"/>
          <p:cNvSpPr/>
          <p:nvPr/>
        </p:nvSpPr>
        <p:spPr>
          <a:xfrm>
            <a:off x="266700" y="4051102"/>
            <a:ext cx="8610600" cy="413400"/>
          </a:xfrm>
          <a:prstGeom prst="roundRect">
            <a:avLst>
              <a:gd fmla="val 13828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b085ef8194_0_35"/>
          <p:cNvSpPr/>
          <p:nvPr/>
        </p:nvSpPr>
        <p:spPr>
          <a:xfrm>
            <a:off x="438150" y="4184452"/>
            <a:ext cx="84330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TF-IDF?</a:t>
            </a:r>
            <a:r>
              <a:rPr b="0" i="0" lang="en-US" sz="8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Captures term importance better than raw counts. Common words get lower weights, rare discriminative words get higher weights.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085ef8194_0_135"/>
          <p:cNvSpPr/>
          <p:nvPr/>
        </p:nvSpPr>
        <p:spPr>
          <a:xfrm>
            <a:off x="266700" y="304800"/>
            <a:ext cx="4401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5C63"/>
              </a:buClr>
              <a:buSzPts val="2550"/>
              <a:buFont typeface="Georgia"/>
              <a:buNone/>
            </a:pPr>
            <a:r>
              <a:rPr b="1" i="0" lang="en-US" sz="2550" u="none" cap="none" strike="noStrike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TF-IDF (F1)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14b8d7b2.png" id="178" name="Google Shape;178;g3b085ef8194_0_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" y="825874"/>
            <a:ext cx="8610600" cy="73774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b085ef8194_0_135"/>
          <p:cNvSpPr/>
          <p:nvPr/>
        </p:nvSpPr>
        <p:spPr>
          <a:xfrm>
            <a:off x="476250" y="997324"/>
            <a:ext cx="41874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Georgia"/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Configuration: F2 = F1 + Sentiment</a:t>
            </a:r>
            <a:endParaRPr b="0" i="0" sz="11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b085ef8194_0_135"/>
          <p:cNvSpPr/>
          <p:nvPr/>
        </p:nvSpPr>
        <p:spPr>
          <a:xfrm>
            <a:off x="476250" y="1232175"/>
            <a:ext cx="8355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Concatenated TF-IDF vectors with VADER sentiment scores and Twitter metadata features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b085ef8194_0_135"/>
          <p:cNvSpPr/>
          <p:nvPr/>
        </p:nvSpPr>
        <p:spPr>
          <a:xfrm>
            <a:off x="266700" y="1677915"/>
            <a:ext cx="8610600" cy="676200"/>
          </a:xfrm>
          <a:prstGeom prst="roundRect">
            <a:avLst>
              <a:gd fmla="val 8453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b085ef8194_0_135"/>
          <p:cNvSpPr/>
          <p:nvPr/>
        </p:nvSpPr>
        <p:spPr>
          <a:xfrm>
            <a:off x="457200" y="1830315"/>
            <a:ext cx="83943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75"/>
              <a:buFont typeface="Georgia"/>
              <a:buNone/>
            </a:pPr>
            <a:r>
              <a:rPr b="1" i="0" lang="en-US" sz="975" u="none" cap="none" strike="noStrike">
                <a:solidFill>
                  <a:srgbClr val="FF6B6B"/>
                </a:solidFill>
                <a:latin typeface="Georgia"/>
                <a:ea typeface="Georgia"/>
                <a:cs typeface="Georgia"/>
                <a:sym typeface="Georgia"/>
              </a:rPr>
              <a:t>Features Added (10 additional dimensions)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b085ef8194_0_135"/>
          <p:cNvSpPr/>
          <p:nvPr/>
        </p:nvSpPr>
        <p:spPr>
          <a:xfrm>
            <a:off x="457200" y="2055045"/>
            <a:ext cx="83943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Positive, negative, neutral, compound sentiment scores + hashtag count, mention count, URL count, retweet indicators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b085ef8194_0_135"/>
          <p:cNvSpPr/>
          <p:nvPr/>
        </p:nvSpPr>
        <p:spPr>
          <a:xfrm>
            <a:off x="266700" y="2639966"/>
            <a:ext cx="4248300" cy="651300"/>
          </a:xfrm>
          <a:prstGeom prst="roundRect">
            <a:avLst>
              <a:gd fmla="val 8773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b085ef8194_0_135"/>
          <p:cNvSpPr/>
          <p:nvPr/>
        </p:nvSpPr>
        <p:spPr>
          <a:xfrm>
            <a:off x="419100" y="2792366"/>
            <a:ext cx="4022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rgbClr val="1D1D1D"/>
                </a:solidFill>
                <a:latin typeface="Georgia"/>
                <a:ea typeface="Georgia"/>
                <a:cs typeface="Georgia"/>
                <a:sym typeface="Georgia"/>
              </a:rPr>
              <a:t>Performance Change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b085ef8194_0_135"/>
          <p:cNvSpPr/>
          <p:nvPr/>
        </p:nvSpPr>
        <p:spPr>
          <a:xfrm>
            <a:off x="419100" y="2992391"/>
            <a:ext cx="40221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Marginal improvements in some models, SVM remained strongest performer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b085ef8194_0_135"/>
          <p:cNvSpPr/>
          <p:nvPr/>
        </p:nvSpPr>
        <p:spPr>
          <a:xfrm>
            <a:off x="266700" y="3405491"/>
            <a:ext cx="4248300" cy="651300"/>
          </a:xfrm>
          <a:prstGeom prst="roundRect">
            <a:avLst>
              <a:gd fmla="val 8773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b085ef8194_0_135"/>
          <p:cNvSpPr/>
          <p:nvPr/>
        </p:nvSpPr>
        <p:spPr>
          <a:xfrm>
            <a:off x="419100" y="3557891"/>
            <a:ext cx="4022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rgbClr val="1D1D1D"/>
                </a:solidFill>
                <a:latin typeface="Georgia"/>
                <a:ea typeface="Georgia"/>
                <a:cs typeface="Georgia"/>
                <a:sym typeface="Georgia"/>
              </a:rPr>
              <a:t>Observation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b085ef8194_0_135"/>
          <p:cNvSpPr/>
          <p:nvPr/>
        </p:nvSpPr>
        <p:spPr>
          <a:xfrm>
            <a:off x="419100" y="3757916"/>
            <a:ext cx="40221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Sentiment features provided small boost but not game-changing improvement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b085ef8194_0_135"/>
          <p:cNvSpPr/>
          <p:nvPr/>
        </p:nvSpPr>
        <p:spPr>
          <a:xfrm>
            <a:off x="266700" y="4171025"/>
            <a:ext cx="4248300" cy="606300"/>
          </a:xfrm>
          <a:prstGeom prst="roundRect">
            <a:avLst>
              <a:gd fmla="val 12661" name="adj"/>
            </a:avLst>
          </a:prstGeom>
          <a:solidFill>
            <a:srgbClr val="FFFFFF"/>
          </a:solidFill>
          <a:ln cap="flat" cmpd="sng" w="1905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b085ef8194_0_135"/>
          <p:cNvSpPr/>
          <p:nvPr/>
        </p:nvSpPr>
        <p:spPr>
          <a:xfrm>
            <a:off x="457200" y="4323425"/>
            <a:ext cx="40221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Conclusion:</a:t>
            </a: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 Sentiment adds context but TF-IDF captures most discriminative information for this task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g3b085ef8194_0_1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5300" y="2468415"/>
            <a:ext cx="3238528" cy="2484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085ef8194_0_173"/>
          <p:cNvSpPr/>
          <p:nvPr/>
        </p:nvSpPr>
        <p:spPr>
          <a:xfrm>
            <a:off x="266700" y="971550"/>
            <a:ext cx="8610600" cy="816900"/>
          </a:xfrm>
          <a:prstGeom prst="roundRect">
            <a:avLst>
              <a:gd fmla="val 9328" name="adj"/>
            </a:avLst>
          </a:prstGeom>
          <a:solidFill>
            <a:srgbClr val="0D5C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b085ef8194_0_173"/>
          <p:cNvSpPr/>
          <p:nvPr/>
        </p:nvSpPr>
        <p:spPr>
          <a:xfrm>
            <a:off x="266700" y="304800"/>
            <a:ext cx="8610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5C63"/>
              </a:buClr>
              <a:buSzPts val="2550"/>
              <a:buFont typeface="Georgia"/>
              <a:buNone/>
            </a:pPr>
            <a:r>
              <a:rPr b="1" i="0" lang="en-US" sz="2550" u="none" cap="none" strike="noStrike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TF-IDF </a:t>
            </a:r>
            <a:r>
              <a:rPr b="1" lang="en-US" sz="2550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+ Sentiment Analysis </a:t>
            </a:r>
            <a:r>
              <a:rPr b="1" i="0" lang="en-US" sz="2550" u="none" cap="none" strike="noStrike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(F</a:t>
            </a:r>
            <a:r>
              <a:rPr b="1" lang="en-US" sz="2550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r>
              <a:rPr b="1" i="0" lang="en-US" sz="2550" u="none" cap="none" strike="noStrike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b085ef8194_0_173"/>
          <p:cNvSpPr/>
          <p:nvPr/>
        </p:nvSpPr>
        <p:spPr>
          <a:xfrm>
            <a:off x="495300" y="1162050"/>
            <a:ext cx="82887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VADER: Valence Aware Dictionary and sEntiment Reasoner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b085ef8194_0_173"/>
          <p:cNvSpPr/>
          <p:nvPr/>
        </p:nvSpPr>
        <p:spPr>
          <a:xfrm>
            <a:off x="496050" y="1413056"/>
            <a:ext cx="8316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Lexicon and rule-based sentiment analysis tool specifically attuned to social media text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b085ef8194_0_173"/>
          <p:cNvSpPr/>
          <p:nvPr/>
        </p:nvSpPr>
        <p:spPr>
          <a:xfrm>
            <a:off x="266625" y="1891558"/>
            <a:ext cx="4248300" cy="1398600"/>
          </a:xfrm>
          <a:prstGeom prst="roundRect">
            <a:avLst>
              <a:gd fmla="val 408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b085ef8194_0_173"/>
          <p:cNvSpPr/>
          <p:nvPr/>
        </p:nvSpPr>
        <p:spPr>
          <a:xfrm>
            <a:off x="438075" y="2043958"/>
            <a:ext cx="39834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rgbClr val="FF6B6B"/>
                </a:solidFill>
                <a:latin typeface="Georgia"/>
                <a:ea typeface="Georgia"/>
                <a:cs typeface="Georgia"/>
                <a:sym typeface="Georgia"/>
              </a:rPr>
              <a:t>Sentiment Scores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b085ef8194_0_173"/>
          <p:cNvSpPr/>
          <p:nvPr/>
        </p:nvSpPr>
        <p:spPr>
          <a:xfrm>
            <a:off x="438075" y="2257228"/>
            <a:ext cx="3905400" cy="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76200" lvl="0" marL="76200" marR="0" rtl="0" algn="l">
              <a:lnSpc>
                <a:spcPct val="155515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Char char="•"/>
            </a:pP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Positive score (0 to 1)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lnSpc>
                <a:spcPct val="155515"/>
              </a:lnSpc>
              <a:spcBef>
                <a:spcPts val="30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Char char="•"/>
            </a:pP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Negative score (0 to 1)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lnSpc>
                <a:spcPct val="155515"/>
              </a:lnSpc>
              <a:spcBef>
                <a:spcPts val="30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Char char="•"/>
            </a:pP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Neutral score (0 to 1)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lnSpc>
                <a:spcPct val="155515"/>
              </a:lnSpc>
              <a:spcBef>
                <a:spcPts val="30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Char char="•"/>
            </a:pP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Compound score (-1 to +1)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b085ef8194_0_173"/>
          <p:cNvSpPr/>
          <p:nvPr/>
        </p:nvSpPr>
        <p:spPr>
          <a:xfrm>
            <a:off x="4629075" y="1891558"/>
            <a:ext cx="4248300" cy="1398600"/>
          </a:xfrm>
          <a:prstGeom prst="roundRect">
            <a:avLst>
              <a:gd fmla="val 408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b085ef8194_0_173"/>
          <p:cNvSpPr/>
          <p:nvPr/>
        </p:nvSpPr>
        <p:spPr>
          <a:xfrm>
            <a:off x="4800525" y="2043958"/>
            <a:ext cx="39834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rgbClr val="FF6B6B"/>
                </a:solidFill>
                <a:latin typeface="Georgia"/>
                <a:ea typeface="Georgia"/>
                <a:cs typeface="Georgia"/>
                <a:sym typeface="Georgia"/>
              </a:rPr>
              <a:t>Additional Features Extracted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b085ef8194_0_173"/>
          <p:cNvSpPr/>
          <p:nvPr/>
        </p:nvSpPr>
        <p:spPr>
          <a:xfrm>
            <a:off x="4800525" y="2257228"/>
            <a:ext cx="3905400" cy="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76200" lvl="0" marL="76200" marR="0" rtl="0" algn="l">
              <a:lnSpc>
                <a:spcPct val="155515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Char char="•"/>
            </a:pP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Hashtag count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lnSpc>
                <a:spcPct val="155515"/>
              </a:lnSpc>
              <a:spcBef>
                <a:spcPts val="30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Char char="•"/>
            </a:pP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Mention count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lnSpc>
                <a:spcPct val="155515"/>
              </a:lnSpc>
              <a:spcBef>
                <a:spcPts val="30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Char char="•"/>
            </a:pP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URL count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lnSpc>
                <a:spcPct val="155515"/>
              </a:lnSpc>
              <a:spcBef>
                <a:spcPts val="30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Char char="•"/>
            </a:pP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Retweet indicators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b085ef8194_0_173"/>
          <p:cNvSpPr/>
          <p:nvPr/>
        </p:nvSpPr>
        <p:spPr>
          <a:xfrm>
            <a:off x="266625" y="3404395"/>
            <a:ext cx="8610600" cy="451500"/>
          </a:xfrm>
          <a:prstGeom prst="roundRect">
            <a:avLst>
              <a:gd fmla="val 12661" name="adj"/>
            </a:avLst>
          </a:prstGeom>
          <a:solidFill>
            <a:srgbClr val="FFFFFF"/>
          </a:solidFill>
          <a:ln cap="flat" cmpd="sng" w="1905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b085ef8194_0_173"/>
          <p:cNvSpPr/>
          <p:nvPr/>
        </p:nvSpPr>
        <p:spPr>
          <a:xfrm>
            <a:off x="457125" y="3556795"/>
            <a:ext cx="83943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Hypothesis:</a:t>
            </a: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 Hate speech might exhibit different sentiment patterns compared to offensive language. Combining sentiment scores with TF-IDF could improve classification.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b085ef8194_0_207"/>
          <p:cNvSpPr/>
          <p:nvPr/>
        </p:nvSpPr>
        <p:spPr>
          <a:xfrm>
            <a:off x="266700" y="304800"/>
            <a:ext cx="8610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5C63"/>
              </a:buClr>
              <a:buSzPts val="2550"/>
              <a:buFont typeface="Georgia"/>
              <a:buNone/>
            </a:pPr>
            <a:r>
              <a:rPr b="1" i="0" lang="en-US" sz="2550" u="none" cap="none" strike="noStrike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TF-IDF </a:t>
            </a:r>
            <a:r>
              <a:rPr b="1" lang="en-US" sz="2550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+ Sentiment Analysis </a:t>
            </a:r>
            <a:r>
              <a:rPr b="1" i="0" lang="en-US" sz="2550" u="none" cap="none" strike="noStrike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(F</a:t>
            </a:r>
            <a:r>
              <a:rPr b="1" lang="en-US" sz="2550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r>
              <a:rPr b="1" i="0" lang="en-US" sz="2550" u="none" cap="none" strike="noStrike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14b8d7b2.png" id="216" name="Google Shape;216;g3b085ef8194_0_2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" y="971550"/>
            <a:ext cx="8610600" cy="73774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3b085ef8194_0_207"/>
          <p:cNvSpPr/>
          <p:nvPr/>
        </p:nvSpPr>
        <p:spPr>
          <a:xfrm>
            <a:off x="476250" y="1143000"/>
            <a:ext cx="41874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Georgia"/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Configuration: F2 = F1 + Sentiment</a:t>
            </a:r>
            <a:endParaRPr b="0" i="0" sz="11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b085ef8194_0_207"/>
          <p:cNvSpPr/>
          <p:nvPr/>
        </p:nvSpPr>
        <p:spPr>
          <a:xfrm>
            <a:off x="476250" y="1377851"/>
            <a:ext cx="8355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Concatenated TF-IDF vectors with VADER sentiment scores and Twitter metadata features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b085ef8194_0_207"/>
          <p:cNvSpPr/>
          <p:nvPr/>
        </p:nvSpPr>
        <p:spPr>
          <a:xfrm>
            <a:off x="266700" y="1823591"/>
            <a:ext cx="8610600" cy="676200"/>
          </a:xfrm>
          <a:prstGeom prst="roundRect">
            <a:avLst>
              <a:gd fmla="val 8453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b085ef8194_0_207"/>
          <p:cNvSpPr/>
          <p:nvPr/>
        </p:nvSpPr>
        <p:spPr>
          <a:xfrm>
            <a:off x="457200" y="1975991"/>
            <a:ext cx="83943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75"/>
              <a:buFont typeface="Georgia"/>
              <a:buNone/>
            </a:pPr>
            <a:r>
              <a:rPr b="1" i="0" lang="en-US" sz="975" u="none" cap="none" strike="noStrike">
                <a:solidFill>
                  <a:srgbClr val="FF6B6B"/>
                </a:solidFill>
                <a:latin typeface="Georgia"/>
                <a:ea typeface="Georgia"/>
                <a:cs typeface="Georgia"/>
                <a:sym typeface="Georgia"/>
              </a:rPr>
              <a:t>Features Added (10 additional dimensions)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b085ef8194_0_207"/>
          <p:cNvSpPr/>
          <p:nvPr/>
        </p:nvSpPr>
        <p:spPr>
          <a:xfrm>
            <a:off x="457200" y="2200721"/>
            <a:ext cx="83943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Positive, negative, neutral, compound sentiment scores + hashtag count, mention count, URL count, retweet indicators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b085ef8194_0_207"/>
          <p:cNvSpPr/>
          <p:nvPr/>
        </p:nvSpPr>
        <p:spPr>
          <a:xfrm>
            <a:off x="266700" y="2726067"/>
            <a:ext cx="4248300" cy="651300"/>
          </a:xfrm>
          <a:prstGeom prst="roundRect">
            <a:avLst>
              <a:gd fmla="val 8773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b085ef8194_0_207"/>
          <p:cNvSpPr/>
          <p:nvPr/>
        </p:nvSpPr>
        <p:spPr>
          <a:xfrm>
            <a:off x="419100" y="2878467"/>
            <a:ext cx="4022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rgbClr val="1D1D1D"/>
                </a:solidFill>
                <a:latin typeface="Georgia"/>
                <a:ea typeface="Georgia"/>
                <a:cs typeface="Georgia"/>
                <a:sym typeface="Georgia"/>
              </a:rPr>
              <a:t>Performance Change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b085ef8194_0_207"/>
          <p:cNvSpPr/>
          <p:nvPr/>
        </p:nvSpPr>
        <p:spPr>
          <a:xfrm>
            <a:off x="419100" y="3078492"/>
            <a:ext cx="40221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Marginal improvements in some models, SVM remained strongest performer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b085ef8194_0_207"/>
          <p:cNvSpPr/>
          <p:nvPr/>
        </p:nvSpPr>
        <p:spPr>
          <a:xfrm>
            <a:off x="266700" y="3502561"/>
            <a:ext cx="4248300" cy="651300"/>
          </a:xfrm>
          <a:prstGeom prst="roundRect">
            <a:avLst>
              <a:gd fmla="val 8773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b085ef8194_0_207"/>
          <p:cNvSpPr/>
          <p:nvPr/>
        </p:nvSpPr>
        <p:spPr>
          <a:xfrm>
            <a:off x="419100" y="3654961"/>
            <a:ext cx="4022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rgbClr val="1D1D1D"/>
                </a:solidFill>
                <a:latin typeface="Georgia"/>
                <a:ea typeface="Georgia"/>
                <a:cs typeface="Georgia"/>
                <a:sym typeface="Georgia"/>
              </a:rPr>
              <a:t>Observation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b085ef8194_0_207"/>
          <p:cNvSpPr/>
          <p:nvPr/>
        </p:nvSpPr>
        <p:spPr>
          <a:xfrm>
            <a:off x="419100" y="3854986"/>
            <a:ext cx="40221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Sentiment features provided small boost but not game-changing improvement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b085ef8194_0_207"/>
          <p:cNvSpPr/>
          <p:nvPr/>
        </p:nvSpPr>
        <p:spPr>
          <a:xfrm>
            <a:off x="306000" y="4279025"/>
            <a:ext cx="4187400" cy="598200"/>
          </a:xfrm>
          <a:prstGeom prst="roundRect">
            <a:avLst>
              <a:gd fmla="val 12661" name="adj"/>
            </a:avLst>
          </a:prstGeom>
          <a:solidFill>
            <a:srgbClr val="FFFFFF"/>
          </a:solidFill>
          <a:ln cap="flat" cmpd="sng" w="1905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b085ef8194_0_207"/>
          <p:cNvSpPr/>
          <p:nvPr/>
        </p:nvSpPr>
        <p:spPr>
          <a:xfrm>
            <a:off x="496500" y="4431425"/>
            <a:ext cx="398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Conclusion:</a:t>
            </a: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 Sentiment adds context but TF-IDF captures most discriminative information for this task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g3b085ef8194_0_2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9750" y="2658741"/>
            <a:ext cx="3048647" cy="2338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b085ef8194_0_238"/>
          <p:cNvSpPr/>
          <p:nvPr/>
        </p:nvSpPr>
        <p:spPr>
          <a:xfrm>
            <a:off x="266700" y="304800"/>
            <a:ext cx="8610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5C63"/>
              </a:buClr>
              <a:buSzPts val="2550"/>
              <a:buFont typeface="Georgia"/>
              <a:buNone/>
            </a:pPr>
            <a:r>
              <a:rPr b="1" i="0" lang="en-US" sz="2550" u="none" cap="none" strike="noStrike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TF-IDF </a:t>
            </a:r>
            <a:r>
              <a:rPr b="1" lang="en-US" sz="2550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+ Sentiment Analysis + Doc2Vec Embeddings </a:t>
            </a:r>
            <a:r>
              <a:rPr b="1" i="0" lang="en-US" sz="2550" u="none" cap="none" strike="noStrike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(F</a:t>
            </a:r>
            <a:r>
              <a:rPr b="1" lang="en-US" sz="2550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r>
              <a:rPr b="1" i="0" lang="en-US" sz="2550" u="none" cap="none" strike="noStrike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b085ef8194_0_238"/>
          <p:cNvSpPr/>
          <p:nvPr/>
        </p:nvSpPr>
        <p:spPr>
          <a:xfrm>
            <a:off x="266625" y="1363775"/>
            <a:ext cx="8610600" cy="816900"/>
          </a:xfrm>
          <a:prstGeom prst="roundRect">
            <a:avLst>
              <a:gd fmla="val 9328" name="adj"/>
            </a:avLst>
          </a:prstGeom>
          <a:solidFill>
            <a:srgbClr val="1A78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b085ef8194_0_238"/>
          <p:cNvSpPr/>
          <p:nvPr/>
        </p:nvSpPr>
        <p:spPr>
          <a:xfrm>
            <a:off x="495225" y="1554275"/>
            <a:ext cx="416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Document Embeddings via Neural Networks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b085ef8194_0_238"/>
          <p:cNvSpPr/>
          <p:nvPr/>
        </p:nvSpPr>
        <p:spPr>
          <a:xfrm>
            <a:off x="495225" y="1818743"/>
            <a:ext cx="8316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Extension of Word2Vec that learns fixed-length feature representations for variable-length documents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b085ef8194_0_238"/>
          <p:cNvSpPr/>
          <p:nvPr/>
        </p:nvSpPr>
        <p:spPr>
          <a:xfrm>
            <a:off x="266625" y="2294993"/>
            <a:ext cx="8610600" cy="918000"/>
          </a:xfrm>
          <a:prstGeom prst="roundRect">
            <a:avLst>
              <a:gd fmla="val 622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b085ef8194_0_238"/>
          <p:cNvSpPr/>
          <p:nvPr/>
        </p:nvSpPr>
        <p:spPr>
          <a:xfrm>
            <a:off x="476175" y="2466443"/>
            <a:ext cx="83553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7880"/>
              </a:buClr>
              <a:buSzPts val="975"/>
              <a:buFont typeface="Georgia"/>
              <a:buNone/>
            </a:pPr>
            <a:r>
              <a:rPr b="1" i="0" lang="en-US" sz="975" u="none" cap="none" strike="noStrike">
                <a:solidFill>
                  <a:srgbClr val="1A7880"/>
                </a:solidFill>
                <a:latin typeface="Georgia"/>
                <a:ea typeface="Georgia"/>
                <a:cs typeface="Georgia"/>
                <a:sym typeface="Georgia"/>
              </a:rPr>
              <a:t>How Doc2Vec Works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b085ef8194_0_238"/>
          <p:cNvSpPr/>
          <p:nvPr/>
        </p:nvSpPr>
        <p:spPr>
          <a:xfrm>
            <a:off x="476175" y="2691173"/>
            <a:ext cx="83553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Uses shallow neural network to predict context words given a document ID and word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b085ef8194_0_238"/>
          <p:cNvSpPr/>
          <p:nvPr/>
        </p:nvSpPr>
        <p:spPr>
          <a:xfrm>
            <a:off x="476175" y="2894919"/>
            <a:ext cx="83553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Training produces dense vector representation of each document that captures semantic meaning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b085ef8194_0_238"/>
          <p:cNvSpPr/>
          <p:nvPr/>
        </p:nvSpPr>
        <p:spPr>
          <a:xfrm>
            <a:off x="266625" y="3327264"/>
            <a:ext cx="4248300" cy="651300"/>
          </a:xfrm>
          <a:prstGeom prst="roundRect">
            <a:avLst>
              <a:gd fmla="val 8773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b085ef8194_0_238"/>
          <p:cNvSpPr/>
          <p:nvPr/>
        </p:nvSpPr>
        <p:spPr>
          <a:xfrm>
            <a:off x="419025" y="3479664"/>
            <a:ext cx="4022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rgbClr val="1D1D1D"/>
                </a:solidFill>
                <a:latin typeface="Georgia"/>
                <a:ea typeface="Georgia"/>
                <a:cs typeface="Georgia"/>
                <a:sym typeface="Georgia"/>
              </a:rPr>
              <a:t>Advantage over TF-IDF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b085ef8194_0_238"/>
          <p:cNvSpPr/>
          <p:nvPr/>
        </p:nvSpPr>
        <p:spPr>
          <a:xfrm>
            <a:off x="419025" y="3679689"/>
            <a:ext cx="40221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Captures semantic similarity and word context, not just term frequency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b085ef8194_0_238"/>
          <p:cNvSpPr/>
          <p:nvPr/>
        </p:nvSpPr>
        <p:spPr>
          <a:xfrm>
            <a:off x="4629075" y="3327264"/>
            <a:ext cx="4248300" cy="651300"/>
          </a:xfrm>
          <a:prstGeom prst="roundRect">
            <a:avLst>
              <a:gd fmla="val 8773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b085ef8194_0_238"/>
          <p:cNvSpPr/>
          <p:nvPr/>
        </p:nvSpPr>
        <p:spPr>
          <a:xfrm>
            <a:off x="4781475" y="3479664"/>
            <a:ext cx="4022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rgbClr val="1D1D1D"/>
                </a:solidFill>
                <a:latin typeface="Georgia"/>
                <a:ea typeface="Georgia"/>
                <a:cs typeface="Georgia"/>
                <a:sym typeface="Georgia"/>
              </a:rPr>
              <a:t>Implementation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b085ef8194_0_238"/>
          <p:cNvSpPr/>
          <p:nvPr/>
        </p:nvSpPr>
        <p:spPr>
          <a:xfrm>
            <a:off x="4781475" y="3679689"/>
            <a:ext cx="40221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Trained Doc2Vec model on preprocessed tweets to generate embedding vectors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b085ef8194_0_238"/>
          <p:cNvSpPr/>
          <p:nvPr/>
        </p:nvSpPr>
        <p:spPr>
          <a:xfrm>
            <a:off x="266625" y="4092985"/>
            <a:ext cx="8610600" cy="413400"/>
          </a:xfrm>
          <a:prstGeom prst="roundRect">
            <a:avLst>
              <a:gd fmla="val 13828" name="adj"/>
            </a:avLst>
          </a:prstGeom>
          <a:solidFill>
            <a:srgbClr val="FFE6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b085ef8194_0_238"/>
          <p:cNvSpPr/>
          <p:nvPr/>
        </p:nvSpPr>
        <p:spPr>
          <a:xfrm>
            <a:off x="438075" y="4226335"/>
            <a:ext cx="84330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Key Insight:</a:t>
            </a: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 Doc2Vec embeddings capture latent semantic structure that might help distinguish subtle differences in hate speech vs offensive language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14b8d7b2.png" id="257" name="Google Shape;257;g3b085ef8194_0_2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" y="1083609"/>
            <a:ext cx="8610600" cy="737741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3b085ef8194_0_269"/>
          <p:cNvSpPr/>
          <p:nvPr/>
        </p:nvSpPr>
        <p:spPr>
          <a:xfrm>
            <a:off x="266700" y="215150"/>
            <a:ext cx="86106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5C63"/>
              </a:buClr>
              <a:buSzPts val="2550"/>
              <a:buFont typeface="Georgia"/>
              <a:buNone/>
            </a:pPr>
            <a:r>
              <a:rPr b="1" i="0" lang="en-US" sz="2550" u="none" cap="none" strike="noStrike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TF-IDF </a:t>
            </a:r>
            <a:r>
              <a:rPr b="1" lang="en-US" sz="2550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+ Sentiment Analysis + Doc2Vec Embeddings </a:t>
            </a:r>
            <a:r>
              <a:rPr b="1" i="0" lang="en-US" sz="2550" u="none" cap="none" strike="noStrike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(F</a:t>
            </a:r>
            <a:r>
              <a:rPr b="1" lang="en-US" sz="2550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r>
              <a:rPr b="1" i="0" lang="en-US" sz="2550" u="none" cap="none" strike="noStrike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endParaRPr b="0" i="0" sz="2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b085ef8194_0_269"/>
          <p:cNvSpPr/>
          <p:nvPr/>
        </p:nvSpPr>
        <p:spPr>
          <a:xfrm>
            <a:off x="476250" y="1255059"/>
            <a:ext cx="41874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Georgia"/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Configuration: F3 = F2 + Doc2Vec</a:t>
            </a:r>
            <a:endParaRPr b="0" i="0" sz="11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b085ef8194_0_269"/>
          <p:cNvSpPr/>
          <p:nvPr/>
        </p:nvSpPr>
        <p:spPr>
          <a:xfrm>
            <a:off x="476250" y="1489910"/>
            <a:ext cx="8355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Added document embeddings to capture semantic relationships between tweets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b085ef8194_0_269"/>
          <p:cNvSpPr/>
          <p:nvPr/>
        </p:nvSpPr>
        <p:spPr>
          <a:xfrm>
            <a:off x="266700" y="1913238"/>
            <a:ext cx="8610600" cy="1045500"/>
          </a:xfrm>
          <a:prstGeom prst="roundRect">
            <a:avLst>
              <a:gd fmla="val 546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b085ef8194_0_269"/>
          <p:cNvSpPr/>
          <p:nvPr/>
        </p:nvSpPr>
        <p:spPr>
          <a:xfrm>
            <a:off x="457200" y="2065638"/>
            <a:ext cx="83943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7880"/>
              </a:buClr>
              <a:buSzPts val="975"/>
              <a:buFont typeface="Georgia"/>
              <a:buNone/>
            </a:pPr>
            <a:r>
              <a:rPr b="1" i="0" lang="en-US" sz="975" u="none" cap="none" strike="noStrike">
                <a:solidFill>
                  <a:srgbClr val="1A7880"/>
                </a:solidFill>
                <a:latin typeface="Georgia"/>
                <a:ea typeface="Georgia"/>
                <a:cs typeface="Georgia"/>
                <a:sym typeface="Georgia"/>
              </a:rPr>
              <a:t>Doc2Vec Training Process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b085ef8194_0_269"/>
          <p:cNvSpPr/>
          <p:nvPr/>
        </p:nvSpPr>
        <p:spPr>
          <a:xfrm>
            <a:off x="457200" y="2290368"/>
            <a:ext cx="83943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1. Tagged documents created from preprocessed tweets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b085ef8194_0_269"/>
          <p:cNvSpPr/>
          <p:nvPr/>
        </p:nvSpPr>
        <p:spPr>
          <a:xfrm>
            <a:off x="457200" y="2475064"/>
            <a:ext cx="83943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2. Model trained to learn document vectors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b085ef8194_0_269"/>
          <p:cNvSpPr/>
          <p:nvPr/>
        </p:nvSpPr>
        <p:spPr>
          <a:xfrm>
            <a:off x="457200" y="2659760"/>
            <a:ext cx="83943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3. Vectors concatenated with existing features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b085ef8194_0_269"/>
          <p:cNvSpPr/>
          <p:nvPr/>
        </p:nvSpPr>
        <p:spPr>
          <a:xfrm>
            <a:off x="266700" y="3117875"/>
            <a:ext cx="4248300" cy="535200"/>
          </a:xfrm>
          <a:prstGeom prst="roundRect">
            <a:avLst>
              <a:gd fmla="val 8773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b085ef8194_0_269"/>
          <p:cNvSpPr/>
          <p:nvPr/>
        </p:nvSpPr>
        <p:spPr>
          <a:xfrm>
            <a:off x="419099" y="3243095"/>
            <a:ext cx="40221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rgbClr val="1D1D1D"/>
                </a:solidFill>
                <a:latin typeface="Georgia"/>
                <a:ea typeface="Georgia"/>
                <a:cs typeface="Georgia"/>
                <a:sym typeface="Georgia"/>
              </a:rPr>
              <a:t>Expected Benefit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b085ef8194_0_269"/>
          <p:cNvSpPr/>
          <p:nvPr/>
        </p:nvSpPr>
        <p:spPr>
          <a:xfrm>
            <a:off x="419099" y="3407447"/>
            <a:ext cx="4022100" cy="1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Capture semantic similarity and context that TF-IDF misses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b085ef8194_0_269"/>
          <p:cNvSpPr/>
          <p:nvPr/>
        </p:nvSpPr>
        <p:spPr>
          <a:xfrm>
            <a:off x="272382" y="3735833"/>
            <a:ext cx="4248300" cy="535200"/>
          </a:xfrm>
          <a:prstGeom prst="roundRect">
            <a:avLst>
              <a:gd fmla="val 8773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b085ef8194_0_269"/>
          <p:cNvSpPr/>
          <p:nvPr/>
        </p:nvSpPr>
        <p:spPr>
          <a:xfrm>
            <a:off x="424782" y="3861053"/>
            <a:ext cx="40221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rgbClr val="1D1D1D"/>
                </a:solidFill>
                <a:latin typeface="Georgia"/>
                <a:ea typeface="Georgia"/>
                <a:cs typeface="Georgia"/>
                <a:sym typeface="Georgia"/>
              </a:rPr>
              <a:t>Actual Result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b085ef8194_0_269"/>
          <p:cNvSpPr/>
          <p:nvPr/>
        </p:nvSpPr>
        <p:spPr>
          <a:xfrm>
            <a:off x="424782" y="4025405"/>
            <a:ext cx="4022100" cy="1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Minimal improvement over F2 configuration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b085ef8194_0_269"/>
          <p:cNvSpPr/>
          <p:nvPr/>
        </p:nvSpPr>
        <p:spPr>
          <a:xfrm>
            <a:off x="272375" y="4353775"/>
            <a:ext cx="4248300" cy="535200"/>
          </a:xfrm>
          <a:prstGeom prst="roundRect">
            <a:avLst>
              <a:gd fmla="val 13828" name="adj"/>
            </a:avLst>
          </a:prstGeom>
          <a:solidFill>
            <a:srgbClr val="FFE66D"/>
          </a:solidFill>
          <a:ln>
            <a:noFill/>
          </a:ln>
        </p:spPr>
        <p:txBody>
          <a:bodyPr anchorCtr="0" anchor="ctr" bIns="35825" lIns="71650" spcFirstLastPara="1" rIns="71650" wrap="square" tIns="35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1"/>
              <a:buFont typeface="Calibri"/>
              <a:buNone/>
            </a:pPr>
            <a:r>
              <a:t/>
            </a:r>
            <a:endParaRPr b="0" i="0" sz="141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b085ef8194_0_269"/>
          <p:cNvSpPr/>
          <p:nvPr/>
        </p:nvSpPr>
        <p:spPr>
          <a:xfrm>
            <a:off x="406750" y="4458300"/>
            <a:ext cx="4022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647"/>
              <a:buFont typeface="Arial"/>
              <a:buNone/>
            </a:pPr>
            <a:r>
              <a:rPr b="1" i="0" lang="en-US" sz="846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Analysis:</a:t>
            </a:r>
            <a:r>
              <a:rPr b="0" i="0" lang="en-US" sz="846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 For short texts like tweets, TF-IDF's bag-of-words approach already captures sufficient information. Semantic embeddings add little value.</a:t>
            </a:r>
            <a:endParaRPr b="0" i="0" sz="84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g3b085ef8194_0_2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8849" y="3050651"/>
            <a:ext cx="2523253" cy="193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b085ef8194_0_328"/>
          <p:cNvSpPr/>
          <p:nvPr/>
        </p:nvSpPr>
        <p:spPr>
          <a:xfrm>
            <a:off x="266700" y="1274125"/>
            <a:ext cx="8610600" cy="816900"/>
          </a:xfrm>
          <a:prstGeom prst="roundRect">
            <a:avLst>
              <a:gd fmla="val 9328" name="adj"/>
            </a:avLst>
          </a:prstGeom>
          <a:solidFill>
            <a:srgbClr val="0D5C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b085ef8194_0_328"/>
          <p:cNvSpPr/>
          <p:nvPr/>
        </p:nvSpPr>
        <p:spPr>
          <a:xfrm>
            <a:off x="266700" y="304800"/>
            <a:ext cx="8610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D5C63"/>
              </a:buClr>
              <a:buSzPts val="2550"/>
              <a:buFont typeface="Georgia"/>
              <a:buNone/>
            </a:pPr>
            <a:r>
              <a:rPr b="1" lang="en-US" sz="2550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TF-IDF + Sentiment Analysis + Doc2Vec Embeddings + Linguistic features (F4)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5C63"/>
              </a:buClr>
              <a:buSzPts val="2550"/>
              <a:buFont typeface="Georgia"/>
              <a:buNone/>
            </a:pPr>
            <a:r>
              <a:t/>
            </a:r>
            <a:endParaRPr b="1" sz="2550">
              <a:solidFill>
                <a:srgbClr val="0D5C63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2" name="Google Shape;282;g3b085ef8194_0_328"/>
          <p:cNvSpPr/>
          <p:nvPr/>
        </p:nvSpPr>
        <p:spPr>
          <a:xfrm>
            <a:off x="495300" y="1464625"/>
            <a:ext cx="82887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Text Complexity and </a:t>
            </a:r>
            <a:r>
              <a:rPr b="1" lang="en-US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Readability</a:t>
            </a:r>
            <a:r>
              <a:rPr b="1" lang="en-US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Metrics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b085ef8194_0_328"/>
          <p:cNvSpPr/>
          <p:nvPr/>
        </p:nvSpPr>
        <p:spPr>
          <a:xfrm>
            <a:off x="496050" y="1715631"/>
            <a:ext cx="8316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FFFFF"/>
                </a:solidFill>
              </a:rPr>
              <a:t>Statistical features that measure linguistic complexity and readability of text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b085ef8194_0_328"/>
          <p:cNvSpPr/>
          <p:nvPr/>
        </p:nvSpPr>
        <p:spPr>
          <a:xfrm>
            <a:off x="266625" y="2194125"/>
            <a:ext cx="4248300" cy="1501500"/>
          </a:xfrm>
          <a:prstGeom prst="roundRect">
            <a:avLst>
              <a:gd fmla="val 408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b085ef8194_0_328"/>
          <p:cNvSpPr/>
          <p:nvPr/>
        </p:nvSpPr>
        <p:spPr>
          <a:xfrm>
            <a:off x="438075" y="2346533"/>
            <a:ext cx="39834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00"/>
              <a:buFont typeface="Georgia"/>
              <a:buNone/>
            </a:pPr>
            <a:r>
              <a:rPr b="1" lang="en-US" sz="900">
                <a:solidFill>
                  <a:srgbClr val="FF6B6B"/>
                </a:solidFill>
                <a:latin typeface="Georgia"/>
                <a:ea typeface="Georgia"/>
                <a:cs typeface="Georgia"/>
                <a:sym typeface="Georgia"/>
              </a:rPr>
              <a:t>Features Extracted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b085ef8194_0_328"/>
          <p:cNvSpPr/>
          <p:nvPr/>
        </p:nvSpPr>
        <p:spPr>
          <a:xfrm>
            <a:off x="438075" y="2559803"/>
            <a:ext cx="3905400" cy="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76200" lvl="0" marL="76200" marR="0" rtl="0" algn="l">
              <a:lnSpc>
                <a:spcPct val="155515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Char char="•"/>
            </a:pPr>
            <a:r>
              <a:rPr lang="en-US" sz="825">
                <a:solidFill>
                  <a:srgbClr val="1D1D1D"/>
                </a:solidFill>
              </a:rPr>
              <a:t>Syllable Count</a:t>
            </a:r>
            <a:endParaRPr sz="825">
              <a:solidFill>
                <a:srgbClr val="1D1D1D"/>
              </a:solidFill>
            </a:endParaRPr>
          </a:p>
          <a:p>
            <a:pPr indent="-76200" lvl="0" marL="76200" marR="0" rtl="0" algn="l">
              <a:lnSpc>
                <a:spcPct val="155515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Char char="•"/>
            </a:pPr>
            <a:r>
              <a:rPr lang="en-US" sz="825">
                <a:solidFill>
                  <a:srgbClr val="1D1D1D"/>
                </a:solidFill>
              </a:rPr>
              <a:t>Character Count</a:t>
            </a:r>
            <a:endParaRPr sz="825">
              <a:solidFill>
                <a:srgbClr val="1D1D1D"/>
              </a:solidFill>
            </a:endParaRPr>
          </a:p>
          <a:p>
            <a:pPr indent="-76200" lvl="0" marL="76200" marR="0" rtl="0" algn="l">
              <a:lnSpc>
                <a:spcPct val="155515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Char char="•"/>
            </a:pPr>
            <a:r>
              <a:rPr lang="en-US" sz="825">
                <a:solidFill>
                  <a:srgbClr val="1D1D1D"/>
                </a:solidFill>
              </a:rPr>
              <a:t>Word Count</a:t>
            </a:r>
            <a:endParaRPr sz="825">
              <a:solidFill>
                <a:srgbClr val="1D1D1D"/>
              </a:solidFill>
            </a:endParaRPr>
          </a:p>
          <a:p>
            <a:pPr indent="-76200" lvl="0" marL="76200" marR="0" rtl="0" algn="l">
              <a:lnSpc>
                <a:spcPct val="155515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Char char="•"/>
            </a:pPr>
            <a:r>
              <a:rPr lang="en-US" sz="825">
                <a:solidFill>
                  <a:srgbClr val="1D1D1D"/>
                </a:solidFill>
              </a:rPr>
              <a:t>Average Word Length</a:t>
            </a:r>
            <a:endParaRPr sz="825">
              <a:solidFill>
                <a:srgbClr val="1D1D1D"/>
              </a:solidFill>
            </a:endParaRPr>
          </a:p>
          <a:p>
            <a:pPr indent="-76200" lvl="0" marL="76200" marR="0" rtl="0" algn="l">
              <a:lnSpc>
                <a:spcPct val="155515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Char char="•"/>
            </a:pPr>
            <a:r>
              <a:rPr lang="en-US" sz="825">
                <a:solidFill>
                  <a:srgbClr val="1D1D1D"/>
                </a:solidFill>
              </a:rPr>
              <a:t>Flesch-Kincaid Grade Level</a:t>
            </a:r>
            <a:endParaRPr sz="825">
              <a:solidFill>
                <a:srgbClr val="1D1D1D"/>
              </a:solidFill>
            </a:endParaRPr>
          </a:p>
        </p:txBody>
      </p:sp>
      <p:sp>
        <p:nvSpPr>
          <p:cNvPr id="287" name="Google Shape;287;g3b085ef8194_0_328"/>
          <p:cNvSpPr/>
          <p:nvPr/>
        </p:nvSpPr>
        <p:spPr>
          <a:xfrm>
            <a:off x="4629075" y="2194125"/>
            <a:ext cx="4248300" cy="1501500"/>
          </a:xfrm>
          <a:prstGeom prst="roundRect">
            <a:avLst>
              <a:gd fmla="val 408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b085ef8194_0_328"/>
          <p:cNvSpPr/>
          <p:nvPr/>
        </p:nvSpPr>
        <p:spPr>
          <a:xfrm>
            <a:off x="4800525" y="2346533"/>
            <a:ext cx="39834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00"/>
              <a:buFont typeface="Georgia"/>
              <a:buNone/>
            </a:pPr>
            <a:r>
              <a:rPr b="1" lang="en-US" sz="900">
                <a:solidFill>
                  <a:srgbClr val="FF6B6B"/>
                </a:solidFill>
                <a:latin typeface="Georgia"/>
                <a:ea typeface="Georgia"/>
                <a:cs typeface="Georgia"/>
                <a:sym typeface="Georgia"/>
              </a:rPr>
              <a:t>Flesch-Kincaid Formula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b085ef8194_0_328"/>
          <p:cNvSpPr/>
          <p:nvPr/>
        </p:nvSpPr>
        <p:spPr>
          <a:xfrm>
            <a:off x="4800525" y="2559803"/>
            <a:ext cx="3905400" cy="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1D1D1D"/>
                </a:solidFill>
              </a:rPr>
              <a:t>FK Grade = 0.39 × (words/sentences)</a:t>
            </a:r>
            <a:r>
              <a:rPr lang="en-US" sz="800">
                <a:solidFill>
                  <a:schemeClr val="dk1"/>
                </a:solidFill>
              </a:rPr>
              <a:t> </a:t>
            </a:r>
            <a:r>
              <a:rPr lang="en-US" sz="750">
                <a:solidFill>
                  <a:srgbClr val="1D1D1D"/>
                </a:solidFill>
              </a:rPr>
              <a:t>+ 11.8 × (syllables/words) - 15.59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solidFill>
                  <a:srgbClr val="1D1D1D"/>
                </a:solidFill>
              </a:rPr>
              <a:t>Measures text complexity on US grade-level scale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90" name="Google Shape;290;g3b085ef8194_0_328"/>
          <p:cNvSpPr/>
          <p:nvPr/>
        </p:nvSpPr>
        <p:spPr>
          <a:xfrm>
            <a:off x="266625" y="3841440"/>
            <a:ext cx="8610600" cy="451500"/>
          </a:xfrm>
          <a:prstGeom prst="roundRect">
            <a:avLst>
              <a:gd fmla="val 12661" name="adj"/>
            </a:avLst>
          </a:prstGeom>
          <a:solidFill>
            <a:srgbClr val="FFFFFF"/>
          </a:solidFill>
          <a:ln cap="flat" cmpd="sng" w="1905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b085ef8194_0_328"/>
          <p:cNvSpPr/>
          <p:nvPr/>
        </p:nvSpPr>
        <p:spPr>
          <a:xfrm>
            <a:off x="457125" y="3993840"/>
            <a:ext cx="83943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1D1D1D"/>
                </a:solidFill>
              </a:rPr>
              <a:t>Rationale:</a:t>
            </a:r>
            <a:r>
              <a:rPr lang="en-US" sz="825">
                <a:solidFill>
                  <a:srgbClr val="1D1D1D"/>
                </a:solidFill>
              </a:rPr>
              <a:t> Hate speech and offensive language might differ in linguistic complexity—hateful content could use simpler or more complex language patterns</a:t>
            </a:r>
            <a:endParaRPr b="1" sz="825">
              <a:solidFill>
                <a:srgbClr val="1D1D1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14b8d7b2.png" id="297" name="Google Shape;297;g3b085ef8194_0_3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" y="1083609"/>
            <a:ext cx="8610600" cy="737741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g3b085ef8194_0_344"/>
          <p:cNvSpPr/>
          <p:nvPr/>
        </p:nvSpPr>
        <p:spPr>
          <a:xfrm>
            <a:off x="266700" y="215150"/>
            <a:ext cx="86106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D5C63"/>
              </a:buClr>
              <a:buSzPts val="2550"/>
              <a:buFont typeface="Georgia"/>
              <a:buNone/>
            </a:pPr>
            <a:r>
              <a:rPr b="1" lang="en-US" sz="2550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TF-IDF + Sentiment Analysis + Doc2Vec Embeddings + Linguistic features (F4)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D5C63"/>
              </a:buClr>
              <a:buSzPts val="2550"/>
              <a:buFont typeface="Georgia"/>
              <a:buNone/>
            </a:pPr>
            <a:r>
              <a:t/>
            </a:r>
            <a:endParaRPr b="1" sz="2550">
              <a:solidFill>
                <a:srgbClr val="0D5C63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5C63"/>
              </a:buClr>
              <a:buSzPts val="2550"/>
              <a:buFont typeface="Georgia"/>
              <a:buNone/>
            </a:pPr>
            <a:r>
              <a:t/>
            </a:r>
            <a:endParaRPr b="1" sz="2550">
              <a:solidFill>
                <a:srgbClr val="0D5C63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9" name="Google Shape;299;g3b085ef8194_0_344"/>
          <p:cNvSpPr/>
          <p:nvPr/>
        </p:nvSpPr>
        <p:spPr>
          <a:xfrm>
            <a:off x="476250" y="1255059"/>
            <a:ext cx="41874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Georgia"/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Configuration: F</a:t>
            </a:r>
            <a:r>
              <a:rPr b="1" lang="en-US" sz="1125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 </a:t>
            </a:r>
            <a:r>
              <a:rPr b="1" i="0" lang="en-US" sz="1125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= F</a:t>
            </a:r>
            <a:r>
              <a:rPr b="1" lang="en-US" sz="1125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r>
              <a:rPr b="1" i="0" lang="en-US" sz="1125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+ </a:t>
            </a:r>
            <a:r>
              <a:rPr b="1" lang="en-US" sz="1125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Readability</a:t>
            </a:r>
            <a:endParaRPr b="0" i="0" sz="11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b085ef8194_0_344"/>
          <p:cNvSpPr/>
          <p:nvPr/>
        </p:nvSpPr>
        <p:spPr>
          <a:xfrm>
            <a:off x="476250" y="1489910"/>
            <a:ext cx="8355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FFFFF"/>
                </a:solidFill>
              </a:rPr>
              <a:t>Complete feature set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b085ef8194_0_344"/>
          <p:cNvSpPr/>
          <p:nvPr/>
        </p:nvSpPr>
        <p:spPr>
          <a:xfrm>
            <a:off x="272375" y="2523944"/>
            <a:ext cx="4248300" cy="535200"/>
          </a:xfrm>
          <a:prstGeom prst="roundRect">
            <a:avLst>
              <a:gd fmla="val 8773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b085ef8194_0_344"/>
          <p:cNvSpPr/>
          <p:nvPr/>
        </p:nvSpPr>
        <p:spPr>
          <a:xfrm>
            <a:off x="424774" y="2649164"/>
            <a:ext cx="40221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Georgia"/>
              <a:buNone/>
            </a:pPr>
            <a:r>
              <a:rPr b="1" lang="en-US" sz="900">
                <a:solidFill>
                  <a:srgbClr val="1D1D1D"/>
                </a:solidFill>
                <a:latin typeface="Georgia"/>
                <a:ea typeface="Georgia"/>
                <a:cs typeface="Georgia"/>
                <a:sym typeface="Georgia"/>
              </a:rPr>
              <a:t>Hypothesis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b085ef8194_0_344"/>
          <p:cNvSpPr/>
          <p:nvPr/>
        </p:nvSpPr>
        <p:spPr>
          <a:xfrm>
            <a:off x="424774" y="2813516"/>
            <a:ext cx="4022100" cy="1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1D1D1D"/>
                </a:solidFill>
              </a:rPr>
              <a:t>Linguistic Complexity might differ </a:t>
            </a:r>
            <a:r>
              <a:rPr lang="en-US" sz="825">
                <a:solidFill>
                  <a:srgbClr val="1D1D1D"/>
                </a:solidFill>
              </a:rPr>
              <a:t>between</a:t>
            </a:r>
            <a:r>
              <a:rPr lang="en-US" sz="825">
                <a:solidFill>
                  <a:srgbClr val="1D1D1D"/>
                </a:solidFill>
              </a:rPr>
              <a:t> hate speech and offensive language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b085ef8194_0_344"/>
          <p:cNvSpPr/>
          <p:nvPr/>
        </p:nvSpPr>
        <p:spPr>
          <a:xfrm>
            <a:off x="272382" y="3176464"/>
            <a:ext cx="4248300" cy="535200"/>
          </a:xfrm>
          <a:prstGeom prst="roundRect">
            <a:avLst>
              <a:gd fmla="val 8773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b085ef8194_0_344"/>
          <p:cNvSpPr/>
          <p:nvPr/>
        </p:nvSpPr>
        <p:spPr>
          <a:xfrm>
            <a:off x="424782" y="3301685"/>
            <a:ext cx="40221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Georgia"/>
              <a:buNone/>
            </a:pPr>
            <a:r>
              <a:rPr b="1" lang="en-US" sz="900">
                <a:solidFill>
                  <a:srgbClr val="1D1D1D"/>
                </a:solidFill>
                <a:latin typeface="Georgia"/>
                <a:ea typeface="Georgia"/>
                <a:cs typeface="Georgia"/>
                <a:sym typeface="Georgia"/>
              </a:rPr>
              <a:t>Outcome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b085ef8194_0_344"/>
          <p:cNvSpPr/>
          <p:nvPr/>
        </p:nvSpPr>
        <p:spPr>
          <a:xfrm>
            <a:off x="424782" y="3466036"/>
            <a:ext cx="4022100" cy="1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1D1D1D"/>
                </a:solidFill>
              </a:rPr>
              <a:t>Still minimal gains over simpler configuration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b085ef8194_0_344"/>
          <p:cNvSpPr/>
          <p:nvPr/>
        </p:nvSpPr>
        <p:spPr>
          <a:xfrm>
            <a:off x="272375" y="3894344"/>
            <a:ext cx="4248300" cy="535200"/>
          </a:xfrm>
          <a:prstGeom prst="roundRect">
            <a:avLst>
              <a:gd fmla="val 13828" name="adj"/>
            </a:avLst>
          </a:prstGeom>
          <a:solidFill>
            <a:srgbClr val="FFE66D"/>
          </a:solidFill>
          <a:ln>
            <a:noFill/>
          </a:ln>
        </p:spPr>
        <p:txBody>
          <a:bodyPr anchorCtr="0" anchor="ctr" bIns="35825" lIns="71650" spcFirstLastPara="1" rIns="71650" wrap="square" tIns="35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1"/>
              <a:buFont typeface="Calibri"/>
              <a:buNone/>
            </a:pPr>
            <a:r>
              <a:t/>
            </a:r>
            <a:endParaRPr b="0" i="0" sz="141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b085ef8194_0_344"/>
          <p:cNvSpPr/>
          <p:nvPr/>
        </p:nvSpPr>
        <p:spPr>
          <a:xfrm>
            <a:off x="406750" y="3998869"/>
            <a:ext cx="4022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647"/>
              <a:buFont typeface="Arial"/>
              <a:buNone/>
            </a:pPr>
            <a:r>
              <a:rPr b="1" lang="en-US" sz="846">
                <a:solidFill>
                  <a:srgbClr val="1D1D1D"/>
                </a:solidFill>
              </a:rPr>
              <a:t>Critical Insight: Complexity does not equal performance. Diminishing returns from feature engineering observed.</a:t>
            </a:r>
            <a:endParaRPr b="0" i="0" sz="84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" name="Google Shape;309;g3b085ef8194_0_3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3925" y="1963650"/>
            <a:ext cx="3932960" cy="301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b085ef8194_0_384"/>
          <p:cNvSpPr/>
          <p:nvPr/>
        </p:nvSpPr>
        <p:spPr>
          <a:xfrm>
            <a:off x="266700" y="304800"/>
            <a:ext cx="8610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5C63"/>
              </a:buClr>
              <a:buSzPts val="2550"/>
              <a:buFont typeface="Georgia"/>
              <a:buNone/>
            </a:pPr>
            <a:r>
              <a:rPr b="1" lang="en-US" sz="2550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Additional Feature Combination Test</a:t>
            </a:r>
            <a:endParaRPr b="1" sz="2550">
              <a:solidFill>
                <a:srgbClr val="0D5C63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/tmp/rasterized-gradient-dc703790.png" id="316" name="Google Shape;316;g3b085ef8194_0_3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" y="725025"/>
            <a:ext cx="8610600" cy="60340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g3b085ef8194_0_384"/>
          <p:cNvSpPr/>
          <p:nvPr/>
        </p:nvSpPr>
        <p:spPr>
          <a:xfrm>
            <a:off x="476250" y="865256"/>
            <a:ext cx="41874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Georgia"/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Testing Alternative Feature Combinations</a:t>
            </a:r>
            <a:endParaRPr b="0" i="0" sz="11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b085ef8194_0_384"/>
          <p:cNvSpPr/>
          <p:nvPr/>
        </p:nvSpPr>
        <p:spPr>
          <a:xfrm>
            <a:off x="476250" y="1057342"/>
            <a:ext cx="8355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Evaluated different subsets to identify minimal effective feature set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3b085ef8194_0_384"/>
          <p:cNvSpPr/>
          <p:nvPr/>
        </p:nvSpPr>
        <p:spPr>
          <a:xfrm>
            <a:off x="266700" y="1421918"/>
            <a:ext cx="4248300" cy="528000"/>
          </a:xfrm>
          <a:prstGeom prst="roundRect">
            <a:avLst>
              <a:gd fmla="val 8852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b085ef8194_0_384"/>
          <p:cNvSpPr/>
          <p:nvPr/>
        </p:nvSpPr>
        <p:spPr>
          <a:xfrm>
            <a:off x="419100" y="1546567"/>
            <a:ext cx="4022100" cy="1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5C63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TF-IDF + Doc2Vec + Readability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b085ef8194_0_384"/>
          <p:cNvSpPr/>
          <p:nvPr/>
        </p:nvSpPr>
        <p:spPr>
          <a:xfrm>
            <a:off x="419100" y="1705422"/>
            <a:ext cx="4022100" cy="1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Skipped sentiment features to test if they were redundant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b085ef8194_0_384"/>
          <p:cNvSpPr/>
          <p:nvPr/>
        </p:nvSpPr>
        <p:spPr>
          <a:xfrm>
            <a:off x="4629150" y="1421918"/>
            <a:ext cx="4248300" cy="528000"/>
          </a:xfrm>
          <a:prstGeom prst="roundRect">
            <a:avLst>
              <a:gd fmla="val 8852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b085ef8194_0_384"/>
          <p:cNvSpPr/>
          <p:nvPr/>
        </p:nvSpPr>
        <p:spPr>
          <a:xfrm>
            <a:off x="4781550" y="1546567"/>
            <a:ext cx="4022100" cy="1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5C63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TF-IDF + Sentiment + Readability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g3b085ef8194_0_384"/>
          <p:cNvSpPr/>
          <p:nvPr/>
        </p:nvSpPr>
        <p:spPr>
          <a:xfrm>
            <a:off x="4781550" y="1705422"/>
            <a:ext cx="4022100" cy="1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Skipped Doc2Vec to test embedding necessity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3b085ef8194_0_384"/>
          <p:cNvSpPr/>
          <p:nvPr/>
        </p:nvSpPr>
        <p:spPr>
          <a:xfrm>
            <a:off x="266700" y="4085100"/>
            <a:ext cx="8610600" cy="475800"/>
          </a:xfrm>
          <a:prstGeom prst="roundRect">
            <a:avLst>
              <a:gd fmla="val 8453" name="adj"/>
            </a:avLst>
          </a:prstGeom>
          <a:solidFill>
            <a:srgbClr val="FFF7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g3b085ef8194_0_384"/>
          <p:cNvSpPr/>
          <p:nvPr/>
        </p:nvSpPr>
        <p:spPr>
          <a:xfrm>
            <a:off x="457200" y="4192330"/>
            <a:ext cx="8394300" cy="1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4A800"/>
              </a:buClr>
              <a:buSzPts val="975"/>
              <a:buFont typeface="Georgia"/>
              <a:buNone/>
            </a:pPr>
            <a:r>
              <a:rPr b="1" i="0" lang="en-US" sz="975" u="none" cap="none" strike="noStrike">
                <a:solidFill>
                  <a:srgbClr val="D4A800"/>
                </a:solidFill>
                <a:latin typeface="Georgia"/>
                <a:ea typeface="Georgia"/>
                <a:cs typeface="Georgia"/>
                <a:sym typeface="Georgia"/>
              </a:rPr>
              <a:t>Results Across All Models</a:t>
            </a:r>
            <a:endParaRPr b="0" i="0" sz="9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g3b085ef8194_0_384"/>
          <p:cNvSpPr/>
          <p:nvPr/>
        </p:nvSpPr>
        <p:spPr>
          <a:xfrm>
            <a:off x="457200" y="4350452"/>
            <a:ext cx="83943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Logistic Regression, Random Forest, Naive Bayes, and SVM all tested on each configuration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b085ef8194_0_384"/>
          <p:cNvSpPr/>
          <p:nvPr/>
        </p:nvSpPr>
        <p:spPr>
          <a:xfrm>
            <a:off x="266700" y="4662625"/>
            <a:ext cx="8610600" cy="279300"/>
          </a:xfrm>
          <a:prstGeom prst="roundRect">
            <a:avLst>
              <a:gd fmla="val 13828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b085ef8194_0_384"/>
          <p:cNvSpPr/>
          <p:nvPr/>
        </p:nvSpPr>
        <p:spPr>
          <a:xfrm>
            <a:off x="438150" y="4752678"/>
            <a:ext cx="8433000" cy="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Consistent Finding:</a:t>
            </a:r>
            <a:r>
              <a:rPr b="0" i="0" lang="en-US" sz="8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SVM with TF-IDF baseline consistently outperformed or matched more complex configurations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0" name="Google Shape;330;g3b085ef8194_0_3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5663" y="2102318"/>
            <a:ext cx="1830382" cy="1830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g3b085ef8194_0_3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38107" y="2102318"/>
            <a:ext cx="1830382" cy="1830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8"/>
          <p:cNvSpPr/>
          <p:nvPr/>
        </p:nvSpPr>
        <p:spPr>
          <a:xfrm>
            <a:off x="266700" y="342900"/>
            <a:ext cx="7767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5C63"/>
              </a:buClr>
              <a:buSzPts val="2700"/>
              <a:buFont typeface="Georgia"/>
              <a:buNone/>
            </a:pPr>
            <a:r>
              <a:rPr b="1" lang="en-US" sz="2700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Comprehensive Model Comparison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8"/>
          <p:cNvSpPr/>
          <p:nvPr/>
        </p:nvSpPr>
        <p:spPr>
          <a:xfrm>
            <a:off x="266700" y="971550"/>
            <a:ext cx="8610600" cy="1338900"/>
          </a:xfrm>
          <a:prstGeom prst="roundRect">
            <a:avLst>
              <a:gd fmla="val 5691" name="adj"/>
            </a:avLst>
          </a:prstGeom>
          <a:solidFill>
            <a:srgbClr val="0D5C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8"/>
          <p:cNvSpPr/>
          <p:nvPr/>
        </p:nvSpPr>
        <p:spPr>
          <a:xfrm>
            <a:off x="2478310" y="1143000"/>
            <a:ext cx="4187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10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Winner: SVM with TF-IDF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394335" y="1407468"/>
            <a:ext cx="83553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E66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E66D"/>
                </a:solidFill>
                <a:latin typeface="Arial"/>
                <a:ea typeface="Arial"/>
                <a:cs typeface="Arial"/>
                <a:sym typeface="Arial"/>
              </a:rPr>
              <a:t>~90%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394335" y="1978968"/>
            <a:ext cx="8355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Overall Accuracy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266700" y="2424708"/>
            <a:ext cx="4248300" cy="685800"/>
          </a:xfrm>
          <a:prstGeom prst="roundRect">
            <a:avLst>
              <a:gd fmla="val 8333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3" name="Google Shape;343;p18"/>
          <p:cNvCxnSpPr/>
          <p:nvPr/>
        </p:nvCxnSpPr>
        <p:spPr>
          <a:xfrm>
            <a:off x="285750" y="2424708"/>
            <a:ext cx="0" cy="685800"/>
          </a:xfrm>
          <a:prstGeom prst="straightConnector1">
            <a:avLst/>
          </a:prstGeom>
          <a:noFill/>
          <a:ln cap="flat" cmpd="sng" w="38100">
            <a:solidFill>
              <a:srgbClr val="0D5C6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" name="Google Shape;344;p18"/>
          <p:cNvSpPr/>
          <p:nvPr/>
        </p:nvSpPr>
        <p:spPr>
          <a:xfrm>
            <a:off x="457200" y="2558058"/>
            <a:ext cx="3983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5C63"/>
              </a:buClr>
              <a:buSzPts val="825"/>
              <a:buFont typeface="Georgia"/>
              <a:buNone/>
            </a:pPr>
            <a:r>
              <a:rPr b="1" i="0" lang="en-US" sz="825" u="none" cap="none" strike="noStrike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Why SVM Won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457200" y="2710458"/>
            <a:ext cx="3983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Effective in high-dimensional sparse spaces (TF-IDF vectors), robust to overfitting with proper regularization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4629150" y="2424708"/>
            <a:ext cx="4248300" cy="685800"/>
          </a:xfrm>
          <a:prstGeom prst="roundRect">
            <a:avLst>
              <a:gd fmla="val 8333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7" name="Google Shape;347;p18"/>
          <p:cNvCxnSpPr/>
          <p:nvPr/>
        </p:nvCxnSpPr>
        <p:spPr>
          <a:xfrm>
            <a:off x="4648200" y="2424708"/>
            <a:ext cx="0" cy="685800"/>
          </a:xfrm>
          <a:prstGeom prst="straightConnector1">
            <a:avLst/>
          </a:prstGeom>
          <a:noFill/>
          <a:ln cap="flat" cmpd="sng" w="381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8" name="Google Shape;348;p18"/>
          <p:cNvSpPr/>
          <p:nvPr/>
        </p:nvSpPr>
        <p:spPr>
          <a:xfrm>
            <a:off x="4819650" y="2558058"/>
            <a:ext cx="3983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825"/>
              <a:buFont typeface="Georgia"/>
              <a:buNone/>
            </a:pPr>
            <a:r>
              <a:rPr b="1" i="0" lang="en-US" sz="825" u="none" cap="none" strike="noStrike">
                <a:solidFill>
                  <a:srgbClr val="FF6B6B"/>
                </a:solidFill>
                <a:latin typeface="Georgia"/>
                <a:ea typeface="Georgia"/>
                <a:cs typeface="Georgia"/>
                <a:sym typeface="Georgia"/>
              </a:rPr>
              <a:t>Other Models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8"/>
          <p:cNvSpPr/>
          <p:nvPr/>
        </p:nvSpPr>
        <p:spPr>
          <a:xfrm>
            <a:off x="4819650" y="2710458"/>
            <a:ext cx="3983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Logistic Regression close second, Random Forest and Naive Bayes competitive but slightly lower accuracy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266700" y="3224808"/>
            <a:ext cx="8610600" cy="607500"/>
          </a:xfrm>
          <a:prstGeom prst="roundRect">
            <a:avLst>
              <a:gd fmla="val 9407" name="adj"/>
            </a:avLst>
          </a:prstGeom>
          <a:solidFill>
            <a:srgbClr val="FFE6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8"/>
          <p:cNvSpPr/>
          <p:nvPr/>
        </p:nvSpPr>
        <p:spPr>
          <a:xfrm>
            <a:off x="438150" y="3358158"/>
            <a:ext cx="84330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rgbClr val="1D1D1D"/>
                </a:solidFill>
                <a:latin typeface="Georgia"/>
                <a:ea typeface="Georgia"/>
                <a:cs typeface="Georgia"/>
                <a:sym typeface="Georgia"/>
              </a:rPr>
              <a:t>Performance Metrics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8"/>
          <p:cNvSpPr/>
          <p:nvPr/>
        </p:nvSpPr>
        <p:spPr>
          <a:xfrm>
            <a:off x="438150" y="3552379"/>
            <a:ext cx="84330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High precision and recall for offensive and neither classes. Lower recall for hate speech due to class imbalance.</a:t>
            </a:r>
            <a:endParaRPr b="0" i="0" sz="8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8"/>
          <p:cNvSpPr/>
          <p:nvPr/>
        </p:nvSpPr>
        <p:spPr>
          <a:xfrm>
            <a:off x="266700" y="3946624"/>
            <a:ext cx="8610600" cy="40020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905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8"/>
          <p:cNvSpPr/>
          <p:nvPr/>
        </p:nvSpPr>
        <p:spPr>
          <a:xfrm>
            <a:off x="438150" y="4079974"/>
            <a:ext cx="84330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Bar charts in notebook visualize accuracy comparison across all four models and feature configurations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9"/>
          <p:cNvSpPr/>
          <p:nvPr/>
        </p:nvSpPr>
        <p:spPr>
          <a:xfrm>
            <a:off x="266700" y="342900"/>
            <a:ext cx="440112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5C63"/>
              </a:buClr>
              <a:buSzPts val="2700"/>
              <a:buFont typeface="Georgia"/>
              <a:buNone/>
            </a:pPr>
            <a:r>
              <a:rPr b="1" lang="en-US" sz="2700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Conclusion &amp; Takeaways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9"/>
          <p:cNvSpPr/>
          <p:nvPr/>
        </p:nvSpPr>
        <p:spPr>
          <a:xfrm>
            <a:off x="266700" y="1066800"/>
            <a:ext cx="8610600" cy="1999200"/>
          </a:xfrm>
          <a:prstGeom prst="roundRect">
            <a:avLst>
              <a:gd fmla="val 4036" name="adj"/>
            </a:avLst>
          </a:prstGeom>
          <a:solidFill>
            <a:srgbClr val="0D5C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9"/>
          <p:cNvSpPr/>
          <p:nvPr/>
        </p:nvSpPr>
        <p:spPr>
          <a:xfrm>
            <a:off x="533400" y="1314450"/>
            <a:ext cx="4129088" cy="211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Key Findings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9"/>
          <p:cNvSpPr/>
          <p:nvPr/>
        </p:nvSpPr>
        <p:spPr>
          <a:xfrm>
            <a:off x="533400" y="1775609"/>
            <a:ext cx="247800" cy="247800"/>
          </a:xfrm>
          <a:prstGeom prst="roundRect">
            <a:avLst>
              <a:gd fmla="val 369231" name="adj"/>
            </a:avLst>
          </a:prstGeom>
          <a:solidFill>
            <a:srgbClr val="FFE6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9"/>
          <p:cNvSpPr/>
          <p:nvPr/>
        </p:nvSpPr>
        <p:spPr>
          <a:xfrm>
            <a:off x="620018" y="1806118"/>
            <a:ext cx="759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D5C6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D5C6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9"/>
          <p:cNvSpPr/>
          <p:nvPr/>
        </p:nvSpPr>
        <p:spPr>
          <a:xfrm>
            <a:off x="895350" y="1756559"/>
            <a:ext cx="47592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TF-IDF remains a strong baseline for short-text classification tasks like tweet analysis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9"/>
          <p:cNvSpPr/>
          <p:nvPr/>
        </p:nvSpPr>
        <p:spPr>
          <a:xfrm>
            <a:off x="533400" y="2156609"/>
            <a:ext cx="247800" cy="247800"/>
          </a:xfrm>
          <a:prstGeom prst="roundRect">
            <a:avLst>
              <a:gd fmla="val 369231" name="adj"/>
            </a:avLst>
          </a:prstGeom>
          <a:solidFill>
            <a:srgbClr val="FFE6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9"/>
          <p:cNvSpPr/>
          <p:nvPr/>
        </p:nvSpPr>
        <p:spPr>
          <a:xfrm>
            <a:off x="620018" y="2187118"/>
            <a:ext cx="759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D5C6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D5C6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9"/>
          <p:cNvSpPr/>
          <p:nvPr/>
        </p:nvSpPr>
        <p:spPr>
          <a:xfrm>
            <a:off x="895350" y="2137559"/>
            <a:ext cx="5002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Increasing feature complexity yields diminishing returns—simplicity is often more effective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9"/>
          <p:cNvSpPr/>
          <p:nvPr/>
        </p:nvSpPr>
        <p:spPr>
          <a:xfrm>
            <a:off x="533400" y="2537609"/>
            <a:ext cx="247800" cy="247800"/>
          </a:xfrm>
          <a:prstGeom prst="roundRect">
            <a:avLst>
              <a:gd fmla="val 369231" name="adj"/>
            </a:avLst>
          </a:prstGeom>
          <a:solidFill>
            <a:srgbClr val="FFE66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9"/>
          <p:cNvSpPr/>
          <p:nvPr/>
        </p:nvSpPr>
        <p:spPr>
          <a:xfrm>
            <a:off x="620018" y="2568118"/>
            <a:ext cx="759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D5C6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D5C6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9"/>
          <p:cNvSpPr/>
          <p:nvPr/>
        </p:nvSpPr>
        <p:spPr>
          <a:xfrm>
            <a:off x="895350" y="2518559"/>
            <a:ext cx="4521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Dataset imbalance is the dominant factor limiting hate speech recall performance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9"/>
          <p:cNvSpPr/>
          <p:nvPr/>
        </p:nvSpPr>
        <p:spPr>
          <a:xfrm>
            <a:off x="266663" y="3221534"/>
            <a:ext cx="4238700" cy="1379100"/>
          </a:xfrm>
          <a:prstGeom prst="roundRect">
            <a:avLst>
              <a:gd fmla="val 5525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9"/>
          <p:cNvSpPr/>
          <p:nvPr/>
        </p:nvSpPr>
        <p:spPr>
          <a:xfrm>
            <a:off x="476213" y="3431084"/>
            <a:ext cx="38958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5C63"/>
              </a:buClr>
              <a:buSzPts val="1050"/>
              <a:buFont typeface="Georgia"/>
              <a:buNone/>
            </a:pPr>
            <a:r>
              <a:rPr b="1" lang="en-US" sz="1050">
                <a:solidFill>
                  <a:srgbClr val="0D5C63"/>
                </a:solidFill>
                <a:latin typeface="Georgia"/>
                <a:ea typeface="Georgia"/>
                <a:cs typeface="Georgia"/>
                <a:sym typeface="Georgia"/>
              </a:rPr>
              <a:t>Future Directions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9"/>
          <p:cNvSpPr/>
          <p:nvPr/>
        </p:nvSpPr>
        <p:spPr>
          <a:xfrm>
            <a:off x="476213" y="3686324"/>
            <a:ext cx="38196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noAutofit/>
          </a:bodyPr>
          <a:lstStyle/>
          <a:p>
            <a:pPr indent="-85725" lvl="0" marL="857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Address class imbalance with resampling techniques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85725" marR="0" rtl="0" algn="l">
              <a:lnSpc>
                <a:spcPct val="150000"/>
              </a:lnSpc>
              <a:spcBef>
                <a:spcPts val="45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Explore deep learning models for contextual understanding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85725" marR="0" rtl="0" algn="l">
              <a:lnSpc>
                <a:spcPct val="150000"/>
              </a:lnSpc>
              <a:spcBef>
                <a:spcPts val="450"/>
              </a:spcBef>
              <a:spcAft>
                <a:spcPts val="0"/>
              </a:spcAft>
              <a:buClr>
                <a:srgbClr val="1D1D1D"/>
              </a:buClr>
              <a:buSzPts val="900"/>
              <a:buFont typeface="Arial"/>
              <a:buChar char="•"/>
            </a:pPr>
            <a:r>
              <a:rPr lang="en-US" sz="9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Investigate ensemble methods combining multiple models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9"/>
          <p:cNvSpPr/>
          <p:nvPr/>
        </p:nvSpPr>
        <p:spPr>
          <a:xfrm>
            <a:off x="4638638" y="3221525"/>
            <a:ext cx="4238700" cy="1379100"/>
          </a:xfrm>
          <a:prstGeom prst="roundRect">
            <a:avLst>
              <a:gd fmla="val 7328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9"/>
          <p:cNvSpPr/>
          <p:nvPr/>
        </p:nvSpPr>
        <p:spPr>
          <a:xfrm>
            <a:off x="4848188" y="3600748"/>
            <a:ext cx="38958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Georgia"/>
              <a:buNone/>
            </a:pPr>
            <a:r>
              <a:rPr b="1" lang="en-US" sz="10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Impact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9"/>
          <p:cNvSpPr/>
          <p:nvPr/>
        </p:nvSpPr>
        <p:spPr>
          <a:xfrm>
            <a:off x="4848188" y="3855988"/>
            <a:ext cx="38958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work demonstrates practical NLP approaches for moderating online content and protecting communities from harmful language.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188511af.png" id="383" name="Google Shape;3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0"/>
          <p:cNvSpPr/>
          <p:nvPr/>
        </p:nvSpPr>
        <p:spPr>
          <a:xfrm>
            <a:off x="2624042" y="2295450"/>
            <a:ext cx="38958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50"/>
              <a:buFont typeface="Georgia"/>
              <a:buNone/>
            </a:pPr>
            <a:r>
              <a:rPr b="1" lang="en-US" sz="43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sz="4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2025-12-15T02:24:46Z</dcterms:created>
  <dc:creator>Prachi Pradhan, Rhea Shastri, Akash Chauhan</dc:creator>
</cp:coreProperties>
</file>